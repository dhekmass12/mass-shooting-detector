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Lst>
  <p:sldSz cx="18288000" cy="10287000"/>
  <p:notesSz cx="6858000" cy="9144000"/>
  <p:embeddedFontLst>
    <p:embeddedFont>
      <p:font typeface="Telegraf Bold" charset="1" panose="00000800000000000000"/>
      <p:regular r:id="rId29"/>
    </p:embeddedFont>
    <p:embeddedFont>
      <p:font typeface="Pattanakarn Expanded" charset="1" panose="00000000000000000000"/>
      <p:regular r:id="rId30"/>
    </p:embeddedFont>
    <p:embeddedFont>
      <p:font typeface="Telegraf Medium" charset="1" panose="00000600000000000000"/>
      <p:regular r:id="rId31"/>
    </p:embeddedFont>
    <p:embeddedFont>
      <p:font typeface="Pattanakarn Expanded Bold" charset="1" panose="00000000000000000000"/>
      <p:regular r:id="rId32"/>
    </p:embeddedFont>
    <p:embeddedFont>
      <p:font typeface="Telegraf" charset="1" panose="00000500000000000000"/>
      <p:regular r:id="rId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fonts/font31.fntdata" Type="http://schemas.openxmlformats.org/officeDocument/2006/relationships/font"/><Relationship Id="rId32" Target="fonts/font32.fntdata" Type="http://schemas.openxmlformats.org/officeDocument/2006/relationships/font"/><Relationship Id="rId33" Target="fonts/font33.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jpeg" Type="http://schemas.openxmlformats.org/officeDocument/2006/relationships/image"/><Relationship Id="rId5" Target="../media/image5.jpeg" Type="http://schemas.openxmlformats.org/officeDocument/2006/relationships/image"/><Relationship Id="rId6" Target="../media/image6.jpeg" Type="http://schemas.openxmlformats.org/officeDocument/2006/relationships/image"/><Relationship Id="rId7" Target="../media/image7.jpeg" Type="http://schemas.openxmlformats.org/officeDocument/2006/relationships/image"/><Relationship Id="rId8" Target="../media/image8.png" Type="http://schemas.openxmlformats.org/officeDocument/2006/relationships/image"/><Relationship Id="rId9" Target="../media/image9.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png" Type="http://schemas.openxmlformats.org/officeDocument/2006/relationships/image"/><Relationship Id="rId3" Target="../media/image14.png" Type="http://schemas.openxmlformats.org/officeDocument/2006/relationships/image"/><Relationship Id="rId4" Target="../media/image15.png" Type="http://schemas.openxmlformats.org/officeDocument/2006/relationships/image"/><Relationship Id="rId5" Target="../media/image16.png" Type="http://schemas.openxmlformats.org/officeDocument/2006/relationships/image"/><Relationship Id="rId6" Target="../media/image17.png" Type="http://schemas.openxmlformats.org/officeDocument/2006/relationships/image"/><Relationship Id="rId7" Target="../media/image8.png" Type="http://schemas.openxmlformats.org/officeDocument/2006/relationships/image"/><Relationship Id="rId8" Target="../media/image9.png" Type="http://schemas.openxmlformats.org/officeDocument/2006/relationships/image"/><Relationship Id="rId9" Target="../media/image10.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9.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2.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3.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4.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png" Type="http://schemas.openxmlformats.org/officeDocument/2006/relationships/image"/><Relationship Id="rId4" Target="../media/image10.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png" Type="http://schemas.openxmlformats.org/officeDocument/2006/relationships/image"/><Relationship Id="rId4" Target="../media/image10.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png" Type="http://schemas.openxmlformats.org/officeDocument/2006/relationships/image"/><Relationship Id="rId4" Target="../media/image10.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png" Type="http://schemas.openxmlformats.org/officeDocument/2006/relationships/image"/><Relationship Id="rId4" Target="../media/image10.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6.png" Type="http://schemas.openxmlformats.org/officeDocument/2006/relationships/image"/><Relationship Id="rId3" Target="../media/image27.png" Type="http://schemas.openxmlformats.org/officeDocument/2006/relationships/image"/><Relationship Id="rId4" Target="../media/image8.png" Type="http://schemas.openxmlformats.org/officeDocument/2006/relationships/image"/><Relationship Id="rId5" Target="../media/image9.png" Type="http://schemas.openxmlformats.org/officeDocument/2006/relationships/image"/><Relationship Id="rId6" Target="../media/image10.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8.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9.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6869353" y="5483217"/>
            <a:ext cx="4547196" cy="674697"/>
            <a:chOff x="0" y="0"/>
            <a:chExt cx="1197615" cy="177698"/>
          </a:xfrm>
        </p:grpSpPr>
        <p:sp>
          <p:nvSpPr>
            <p:cNvPr name="Freeform 3" id="3"/>
            <p:cNvSpPr/>
            <p:nvPr/>
          </p:nvSpPr>
          <p:spPr>
            <a:xfrm flipH="false" flipV="false" rot="0">
              <a:off x="0" y="0"/>
              <a:ext cx="1197615" cy="177698"/>
            </a:xfrm>
            <a:custGeom>
              <a:avLst/>
              <a:gdLst/>
              <a:ahLst/>
              <a:cxnLst/>
              <a:rect r="r" b="b" t="t" l="l"/>
              <a:pathLst>
                <a:path h="177698" w="1197615">
                  <a:moveTo>
                    <a:pt x="88849" y="0"/>
                  </a:moveTo>
                  <a:lnTo>
                    <a:pt x="1108766" y="0"/>
                  </a:lnTo>
                  <a:cubicBezTo>
                    <a:pt x="1132331" y="0"/>
                    <a:pt x="1154930" y="9361"/>
                    <a:pt x="1171592" y="26023"/>
                  </a:cubicBezTo>
                  <a:cubicBezTo>
                    <a:pt x="1188255" y="42686"/>
                    <a:pt x="1197615" y="65285"/>
                    <a:pt x="1197615" y="88849"/>
                  </a:cubicBezTo>
                  <a:lnTo>
                    <a:pt x="1197615" y="88849"/>
                  </a:lnTo>
                  <a:cubicBezTo>
                    <a:pt x="1197615" y="112413"/>
                    <a:pt x="1188255" y="135012"/>
                    <a:pt x="1171592" y="151675"/>
                  </a:cubicBezTo>
                  <a:cubicBezTo>
                    <a:pt x="1154930" y="168337"/>
                    <a:pt x="1132331" y="177698"/>
                    <a:pt x="1108766" y="177698"/>
                  </a:cubicBezTo>
                  <a:lnTo>
                    <a:pt x="88849" y="177698"/>
                  </a:lnTo>
                  <a:cubicBezTo>
                    <a:pt x="65285" y="177698"/>
                    <a:pt x="42686" y="168337"/>
                    <a:pt x="26023" y="151675"/>
                  </a:cubicBezTo>
                  <a:cubicBezTo>
                    <a:pt x="9361" y="135012"/>
                    <a:pt x="0" y="112413"/>
                    <a:pt x="0" y="88849"/>
                  </a:cubicBezTo>
                  <a:lnTo>
                    <a:pt x="0" y="88849"/>
                  </a:lnTo>
                  <a:cubicBezTo>
                    <a:pt x="0" y="65285"/>
                    <a:pt x="9361" y="42686"/>
                    <a:pt x="26023" y="26023"/>
                  </a:cubicBezTo>
                  <a:cubicBezTo>
                    <a:pt x="42686" y="9361"/>
                    <a:pt x="65285" y="0"/>
                    <a:pt x="88849" y="0"/>
                  </a:cubicBezTo>
                  <a:close/>
                </a:path>
              </a:pathLst>
            </a:custGeom>
            <a:solidFill>
              <a:srgbClr val="000000">
                <a:alpha val="0"/>
              </a:srgbClr>
            </a:solidFill>
            <a:ln w="19050" cap="rnd">
              <a:solidFill>
                <a:srgbClr val="FFFFFF"/>
              </a:solidFill>
              <a:prstDash val="solid"/>
              <a:round/>
            </a:ln>
          </p:spPr>
        </p:sp>
        <p:sp>
          <p:nvSpPr>
            <p:cNvPr name="TextBox 4" id="4"/>
            <p:cNvSpPr txBox="true"/>
            <p:nvPr/>
          </p:nvSpPr>
          <p:spPr>
            <a:xfrm>
              <a:off x="0" y="-57150"/>
              <a:ext cx="1197615" cy="234848"/>
            </a:xfrm>
            <a:prstGeom prst="rect">
              <a:avLst/>
            </a:prstGeom>
          </p:spPr>
          <p:txBody>
            <a:bodyPr anchor="ctr" rtlCol="false" tIns="50800" lIns="50800" bIns="50800" rIns="50800"/>
            <a:lstStyle/>
            <a:p>
              <a:pPr algn="ctr">
                <a:lnSpc>
                  <a:spcPts val="1960"/>
                </a:lnSpc>
              </a:pPr>
            </a:p>
          </p:txBody>
        </p:sp>
      </p:grpSp>
      <p:sp>
        <p:nvSpPr>
          <p:cNvPr name="TextBox 5" id="5"/>
          <p:cNvSpPr txBox="true"/>
          <p:nvPr/>
        </p:nvSpPr>
        <p:spPr>
          <a:xfrm rot="0">
            <a:off x="7066987" y="5501478"/>
            <a:ext cx="4151927" cy="542926"/>
          </a:xfrm>
          <a:prstGeom prst="rect">
            <a:avLst/>
          </a:prstGeom>
        </p:spPr>
        <p:txBody>
          <a:bodyPr anchor="t" rtlCol="false" tIns="0" lIns="0" bIns="0" rIns="0">
            <a:spAutoFit/>
          </a:bodyPr>
          <a:lstStyle/>
          <a:p>
            <a:pPr algn="ctr">
              <a:lnSpc>
                <a:spcPts val="4199"/>
              </a:lnSpc>
              <a:spcBef>
                <a:spcPct val="0"/>
              </a:spcBef>
            </a:pPr>
            <a:r>
              <a:rPr lang="en-US" b="true" sz="2999" spc="-149">
                <a:solidFill>
                  <a:srgbClr val="FFFFFF"/>
                </a:solidFill>
                <a:latin typeface="Telegraf Bold"/>
                <a:ea typeface="Telegraf Bold"/>
                <a:cs typeface="Telegraf Bold"/>
                <a:sym typeface="Telegraf Bold"/>
              </a:rPr>
              <a:t>RNN (Rest N Nap 🛌)</a:t>
            </a:r>
          </a:p>
        </p:txBody>
      </p:sp>
      <p:sp>
        <p:nvSpPr>
          <p:cNvPr name="TextBox 6" id="6"/>
          <p:cNvSpPr txBox="true"/>
          <p:nvPr/>
        </p:nvSpPr>
        <p:spPr>
          <a:xfrm rot="0">
            <a:off x="4318064" y="4045165"/>
            <a:ext cx="9651872" cy="1073785"/>
          </a:xfrm>
          <a:prstGeom prst="rect">
            <a:avLst/>
          </a:prstGeom>
        </p:spPr>
        <p:txBody>
          <a:bodyPr anchor="t" rtlCol="false" tIns="0" lIns="0" bIns="0" rIns="0">
            <a:spAutoFit/>
          </a:bodyPr>
          <a:lstStyle/>
          <a:p>
            <a:pPr algn="l">
              <a:lnSpc>
                <a:spcPts val="6439"/>
              </a:lnSpc>
              <a:spcBef>
                <a:spcPct val="0"/>
              </a:spcBef>
            </a:pPr>
            <a:r>
              <a:rPr lang="en-US" sz="4599">
                <a:solidFill>
                  <a:srgbClr val="FFFFFF"/>
                </a:solidFill>
                <a:latin typeface="Pattanakarn Expanded"/>
                <a:ea typeface="Pattanakarn Expanded"/>
                <a:cs typeface="Pattanakarn Expanded"/>
                <a:sym typeface="Pattanakarn Expanded"/>
              </a:rPr>
              <a:t>MASS SHOOTING DETECTOR</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2029126"/>
          </a:xfrm>
          <a:custGeom>
            <a:avLst/>
            <a:gdLst/>
            <a:ahLst/>
            <a:cxnLst/>
            <a:rect r="r" b="b" t="t" l="l"/>
            <a:pathLst>
              <a:path h="12029126" w="18288000">
                <a:moveTo>
                  <a:pt x="0" y="0"/>
                </a:moveTo>
                <a:lnTo>
                  <a:pt x="18288000" y="0"/>
                </a:lnTo>
                <a:lnTo>
                  <a:pt x="18288000" y="12029126"/>
                </a:lnTo>
                <a:lnTo>
                  <a:pt x="0" y="12029126"/>
                </a:lnTo>
                <a:lnTo>
                  <a:pt x="0" y="0"/>
                </a:lnTo>
                <a:close/>
              </a:path>
            </a:pathLst>
          </a:custGeom>
          <a:blipFill>
            <a:blip r:embed="rId2">
              <a:alphaModFix amt="18000"/>
            </a:blip>
            <a:stretch>
              <a:fillRect l="0" t="-740" r="0" b="-740"/>
            </a:stretch>
          </a:blipFill>
        </p:spPr>
      </p:sp>
      <p:grpSp>
        <p:nvGrpSpPr>
          <p:cNvPr name="Group 3" id="3"/>
          <p:cNvGrpSpPr/>
          <p:nvPr/>
        </p:nvGrpSpPr>
        <p:grpSpPr>
          <a:xfrm rot="0">
            <a:off x="2817794" y="4073282"/>
            <a:ext cx="12652412" cy="1927438"/>
            <a:chOff x="0" y="0"/>
            <a:chExt cx="3332323" cy="507638"/>
          </a:xfrm>
        </p:grpSpPr>
        <p:sp>
          <p:nvSpPr>
            <p:cNvPr name="Freeform 4" id="4"/>
            <p:cNvSpPr/>
            <p:nvPr/>
          </p:nvSpPr>
          <p:spPr>
            <a:xfrm flipH="false" flipV="false" rot="0">
              <a:off x="0" y="0"/>
              <a:ext cx="3332323" cy="507638"/>
            </a:xfrm>
            <a:custGeom>
              <a:avLst/>
              <a:gdLst/>
              <a:ahLst/>
              <a:cxnLst/>
              <a:rect r="r" b="b" t="t" l="l"/>
              <a:pathLst>
                <a:path h="507638" w="3332323">
                  <a:moveTo>
                    <a:pt x="37937" y="0"/>
                  </a:moveTo>
                  <a:lnTo>
                    <a:pt x="3294385" y="0"/>
                  </a:lnTo>
                  <a:cubicBezTo>
                    <a:pt x="3304447" y="0"/>
                    <a:pt x="3314096" y="3997"/>
                    <a:pt x="3321211" y="11112"/>
                  </a:cubicBezTo>
                  <a:cubicBezTo>
                    <a:pt x="3328326" y="18226"/>
                    <a:pt x="3332323" y="27876"/>
                    <a:pt x="3332323" y="37937"/>
                  </a:cubicBezTo>
                  <a:lnTo>
                    <a:pt x="3332323" y="469701"/>
                  </a:lnTo>
                  <a:cubicBezTo>
                    <a:pt x="3332323" y="490653"/>
                    <a:pt x="3315338" y="507638"/>
                    <a:pt x="3294385" y="507638"/>
                  </a:cubicBezTo>
                  <a:lnTo>
                    <a:pt x="37937" y="507638"/>
                  </a:lnTo>
                  <a:cubicBezTo>
                    <a:pt x="27876" y="507638"/>
                    <a:pt x="18226" y="503641"/>
                    <a:pt x="11112" y="496527"/>
                  </a:cubicBezTo>
                  <a:cubicBezTo>
                    <a:pt x="3997" y="489412"/>
                    <a:pt x="0" y="479762"/>
                    <a:pt x="0" y="469701"/>
                  </a:cubicBezTo>
                  <a:lnTo>
                    <a:pt x="0" y="37937"/>
                  </a:lnTo>
                  <a:cubicBezTo>
                    <a:pt x="0" y="27876"/>
                    <a:pt x="3997" y="18226"/>
                    <a:pt x="11112" y="11112"/>
                  </a:cubicBezTo>
                  <a:cubicBezTo>
                    <a:pt x="18226" y="3997"/>
                    <a:pt x="27876" y="0"/>
                    <a:pt x="37937" y="0"/>
                  </a:cubicBezTo>
                  <a:close/>
                </a:path>
              </a:pathLst>
            </a:custGeom>
            <a:solidFill>
              <a:srgbClr val="10162A">
                <a:alpha val="27843"/>
              </a:srgbClr>
            </a:solidFill>
          </p:spPr>
        </p:sp>
        <p:sp>
          <p:nvSpPr>
            <p:cNvPr name="TextBox 5" id="5"/>
            <p:cNvSpPr txBox="true"/>
            <p:nvPr/>
          </p:nvSpPr>
          <p:spPr>
            <a:xfrm>
              <a:off x="0" y="-57150"/>
              <a:ext cx="3332323" cy="564788"/>
            </a:xfrm>
            <a:prstGeom prst="rect">
              <a:avLst/>
            </a:prstGeom>
          </p:spPr>
          <p:txBody>
            <a:bodyPr anchor="ctr" rtlCol="false" tIns="50800" lIns="50800" bIns="50800" rIns="50800"/>
            <a:lstStyle/>
            <a:p>
              <a:pPr algn="ctr">
                <a:lnSpc>
                  <a:spcPts val="1960"/>
                </a:lnSpc>
              </a:pPr>
            </a:p>
          </p:txBody>
        </p:sp>
      </p:grpSp>
      <p:sp>
        <p:nvSpPr>
          <p:cNvPr name="TextBox 6" id="6"/>
          <p:cNvSpPr txBox="true"/>
          <p:nvPr/>
        </p:nvSpPr>
        <p:spPr>
          <a:xfrm rot="0">
            <a:off x="2817794" y="4129425"/>
            <a:ext cx="12652412" cy="1672277"/>
          </a:xfrm>
          <a:prstGeom prst="rect">
            <a:avLst/>
          </a:prstGeom>
        </p:spPr>
        <p:txBody>
          <a:bodyPr anchor="t" rtlCol="false" tIns="0" lIns="0" bIns="0" rIns="0">
            <a:spAutoFit/>
          </a:bodyPr>
          <a:lstStyle/>
          <a:p>
            <a:pPr algn="ctr">
              <a:lnSpc>
                <a:spcPts val="6520"/>
              </a:lnSpc>
              <a:spcBef>
                <a:spcPct val="0"/>
              </a:spcBef>
            </a:pPr>
            <a:r>
              <a:rPr lang="en-US" b="true" sz="4657" spc="-232">
                <a:solidFill>
                  <a:srgbClr val="FFFFFF"/>
                </a:solidFill>
                <a:latin typeface="Telegraf Medium"/>
                <a:ea typeface="Telegraf Medium"/>
                <a:cs typeface="Telegraf Medium"/>
                <a:sym typeface="Telegraf Medium"/>
              </a:rPr>
              <a:t>Mass shooting merupakan masalah serius di Amerika Serikat</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827280" y="2371052"/>
            <a:ext cx="4501568" cy="2380253"/>
            <a:chOff x="0" y="0"/>
            <a:chExt cx="1185598" cy="626898"/>
          </a:xfrm>
        </p:grpSpPr>
        <p:sp>
          <p:nvSpPr>
            <p:cNvPr name="Freeform 3" id="3"/>
            <p:cNvSpPr/>
            <p:nvPr/>
          </p:nvSpPr>
          <p:spPr>
            <a:xfrm flipH="false" flipV="false" rot="0">
              <a:off x="0" y="0"/>
              <a:ext cx="1185598" cy="626898"/>
            </a:xfrm>
            <a:custGeom>
              <a:avLst/>
              <a:gdLst/>
              <a:ahLst/>
              <a:cxnLst/>
              <a:rect r="r" b="b" t="t" l="l"/>
              <a:pathLst>
                <a:path h="626898" w="1185598">
                  <a:moveTo>
                    <a:pt x="67073" y="0"/>
                  </a:moveTo>
                  <a:lnTo>
                    <a:pt x="1118525" y="0"/>
                  </a:lnTo>
                  <a:cubicBezTo>
                    <a:pt x="1155568" y="0"/>
                    <a:pt x="1185598" y="30030"/>
                    <a:pt x="1185598" y="67073"/>
                  </a:cubicBezTo>
                  <a:lnTo>
                    <a:pt x="1185598" y="559825"/>
                  </a:lnTo>
                  <a:cubicBezTo>
                    <a:pt x="1185598" y="596868"/>
                    <a:pt x="1155568" y="626898"/>
                    <a:pt x="1118525" y="626898"/>
                  </a:cubicBezTo>
                  <a:lnTo>
                    <a:pt x="67073" y="626898"/>
                  </a:lnTo>
                  <a:cubicBezTo>
                    <a:pt x="30030" y="626898"/>
                    <a:pt x="0" y="596868"/>
                    <a:pt x="0" y="559825"/>
                  </a:cubicBezTo>
                  <a:lnTo>
                    <a:pt x="0" y="67073"/>
                  </a:lnTo>
                  <a:cubicBezTo>
                    <a:pt x="0" y="30030"/>
                    <a:pt x="30030" y="0"/>
                    <a:pt x="67073" y="0"/>
                  </a:cubicBezTo>
                  <a:close/>
                </a:path>
              </a:pathLst>
            </a:custGeom>
            <a:solidFill>
              <a:srgbClr val="202F60">
                <a:alpha val="49804"/>
              </a:srgbClr>
            </a:solidFill>
          </p:spPr>
        </p:sp>
        <p:sp>
          <p:nvSpPr>
            <p:cNvPr name="TextBox 4" id="4"/>
            <p:cNvSpPr txBox="true"/>
            <p:nvPr/>
          </p:nvSpPr>
          <p:spPr>
            <a:xfrm>
              <a:off x="0" y="-57150"/>
              <a:ext cx="1185598" cy="684048"/>
            </a:xfrm>
            <a:prstGeom prst="rect">
              <a:avLst/>
            </a:prstGeom>
          </p:spPr>
          <p:txBody>
            <a:bodyPr anchor="ctr" rtlCol="false" tIns="50800" lIns="50800" bIns="50800" rIns="50800"/>
            <a:lstStyle/>
            <a:p>
              <a:pPr algn="ctr">
                <a:lnSpc>
                  <a:spcPts val="1960"/>
                </a:lnSpc>
              </a:pPr>
            </a:p>
          </p:txBody>
        </p:sp>
      </p:grpSp>
      <p:grpSp>
        <p:nvGrpSpPr>
          <p:cNvPr name="Group 5" id="5"/>
          <p:cNvGrpSpPr/>
          <p:nvPr/>
        </p:nvGrpSpPr>
        <p:grpSpPr>
          <a:xfrm rot="0">
            <a:off x="5524375" y="2371052"/>
            <a:ext cx="4501568" cy="2380253"/>
            <a:chOff x="0" y="0"/>
            <a:chExt cx="1185598" cy="626898"/>
          </a:xfrm>
        </p:grpSpPr>
        <p:sp>
          <p:nvSpPr>
            <p:cNvPr name="Freeform 6" id="6"/>
            <p:cNvSpPr/>
            <p:nvPr/>
          </p:nvSpPr>
          <p:spPr>
            <a:xfrm flipH="false" flipV="false" rot="0">
              <a:off x="0" y="0"/>
              <a:ext cx="1185598" cy="626898"/>
            </a:xfrm>
            <a:custGeom>
              <a:avLst/>
              <a:gdLst/>
              <a:ahLst/>
              <a:cxnLst/>
              <a:rect r="r" b="b" t="t" l="l"/>
              <a:pathLst>
                <a:path h="626898" w="1185598">
                  <a:moveTo>
                    <a:pt x="67073" y="0"/>
                  </a:moveTo>
                  <a:lnTo>
                    <a:pt x="1118525" y="0"/>
                  </a:lnTo>
                  <a:cubicBezTo>
                    <a:pt x="1155568" y="0"/>
                    <a:pt x="1185598" y="30030"/>
                    <a:pt x="1185598" y="67073"/>
                  </a:cubicBezTo>
                  <a:lnTo>
                    <a:pt x="1185598" y="559825"/>
                  </a:lnTo>
                  <a:cubicBezTo>
                    <a:pt x="1185598" y="596868"/>
                    <a:pt x="1155568" y="626898"/>
                    <a:pt x="1118525" y="626898"/>
                  </a:cubicBezTo>
                  <a:lnTo>
                    <a:pt x="67073" y="626898"/>
                  </a:lnTo>
                  <a:cubicBezTo>
                    <a:pt x="30030" y="626898"/>
                    <a:pt x="0" y="596868"/>
                    <a:pt x="0" y="559825"/>
                  </a:cubicBezTo>
                  <a:lnTo>
                    <a:pt x="0" y="67073"/>
                  </a:lnTo>
                  <a:cubicBezTo>
                    <a:pt x="0" y="30030"/>
                    <a:pt x="30030" y="0"/>
                    <a:pt x="67073" y="0"/>
                  </a:cubicBezTo>
                  <a:close/>
                </a:path>
              </a:pathLst>
            </a:custGeom>
            <a:solidFill>
              <a:srgbClr val="202F60">
                <a:alpha val="49804"/>
              </a:srgbClr>
            </a:solidFill>
          </p:spPr>
        </p:sp>
        <p:sp>
          <p:nvSpPr>
            <p:cNvPr name="TextBox 7" id="7"/>
            <p:cNvSpPr txBox="true"/>
            <p:nvPr/>
          </p:nvSpPr>
          <p:spPr>
            <a:xfrm>
              <a:off x="0" y="-57150"/>
              <a:ext cx="1185598" cy="684048"/>
            </a:xfrm>
            <a:prstGeom prst="rect">
              <a:avLst/>
            </a:prstGeom>
          </p:spPr>
          <p:txBody>
            <a:bodyPr anchor="ctr" rtlCol="false" tIns="50800" lIns="50800" bIns="50800" rIns="50800"/>
            <a:lstStyle/>
            <a:p>
              <a:pPr algn="ctr">
                <a:lnSpc>
                  <a:spcPts val="1960"/>
                </a:lnSpc>
              </a:pPr>
            </a:p>
          </p:txBody>
        </p:sp>
      </p:grpSp>
      <p:grpSp>
        <p:nvGrpSpPr>
          <p:cNvPr name="Group 8" id="8"/>
          <p:cNvGrpSpPr/>
          <p:nvPr/>
        </p:nvGrpSpPr>
        <p:grpSpPr>
          <a:xfrm rot="0">
            <a:off x="5524375" y="5014297"/>
            <a:ext cx="4501568" cy="2380253"/>
            <a:chOff x="0" y="0"/>
            <a:chExt cx="1185598" cy="626898"/>
          </a:xfrm>
        </p:grpSpPr>
        <p:sp>
          <p:nvSpPr>
            <p:cNvPr name="Freeform 9" id="9"/>
            <p:cNvSpPr/>
            <p:nvPr/>
          </p:nvSpPr>
          <p:spPr>
            <a:xfrm flipH="false" flipV="false" rot="0">
              <a:off x="0" y="0"/>
              <a:ext cx="1185598" cy="626898"/>
            </a:xfrm>
            <a:custGeom>
              <a:avLst/>
              <a:gdLst/>
              <a:ahLst/>
              <a:cxnLst/>
              <a:rect r="r" b="b" t="t" l="l"/>
              <a:pathLst>
                <a:path h="626898" w="1185598">
                  <a:moveTo>
                    <a:pt x="67073" y="0"/>
                  </a:moveTo>
                  <a:lnTo>
                    <a:pt x="1118525" y="0"/>
                  </a:lnTo>
                  <a:cubicBezTo>
                    <a:pt x="1155568" y="0"/>
                    <a:pt x="1185598" y="30030"/>
                    <a:pt x="1185598" y="67073"/>
                  </a:cubicBezTo>
                  <a:lnTo>
                    <a:pt x="1185598" y="559825"/>
                  </a:lnTo>
                  <a:cubicBezTo>
                    <a:pt x="1185598" y="596868"/>
                    <a:pt x="1155568" y="626898"/>
                    <a:pt x="1118525" y="626898"/>
                  </a:cubicBezTo>
                  <a:lnTo>
                    <a:pt x="67073" y="626898"/>
                  </a:lnTo>
                  <a:cubicBezTo>
                    <a:pt x="30030" y="626898"/>
                    <a:pt x="0" y="596868"/>
                    <a:pt x="0" y="559825"/>
                  </a:cubicBezTo>
                  <a:lnTo>
                    <a:pt x="0" y="67073"/>
                  </a:lnTo>
                  <a:cubicBezTo>
                    <a:pt x="0" y="30030"/>
                    <a:pt x="30030" y="0"/>
                    <a:pt x="67073" y="0"/>
                  </a:cubicBezTo>
                  <a:close/>
                </a:path>
              </a:pathLst>
            </a:custGeom>
            <a:solidFill>
              <a:srgbClr val="202F60">
                <a:alpha val="49804"/>
              </a:srgbClr>
            </a:solidFill>
          </p:spPr>
        </p:sp>
        <p:sp>
          <p:nvSpPr>
            <p:cNvPr name="TextBox 10" id="10"/>
            <p:cNvSpPr txBox="true"/>
            <p:nvPr/>
          </p:nvSpPr>
          <p:spPr>
            <a:xfrm>
              <a:off x="0" y="-57150"/>
              <a:ext cx="1185598" cy="684048"/>
            </a:xfrm>
            <a:prstGeom prst="rect">
              <a:avLst/>
            </a:prstGeom>
          </p:spPr>
          <p:txBody>
            <a:bodyPr anchor="ctr" rtlCol="false" tIns="50800" lIns="50800" bIns="50800" rIns="50800"/>
            <a:lstStyle/>
            <a:p>
              <a:pPr algn="ctr">
                <a:lnSpc>
                  <a:spcPts val="1960"/>
                </a:lnSpc>
              </a:pPr>
            </a:p>
          </p:txBody>
        </p:sp>
      </p:grpSp>
      <p:grpSp>
        <p:nvGrpSpPr>
          <p:cNvPr name="Group 11" id="11"/>
          <p:cNvGrpSpPr/>
          <p:nvPr/>
        </p:nvGrpSpPr>
        <p:grpSpPr>
          <a:xfrm rot="0">
            <a:off x="827280" y="5000729"/>
            <a:ext cx="4501568" cy="2380253"/>
            <a:chOff x="0" y="0"/>
            <a:chExt cx="1185598" cy="626898"/>
          </a:xfrm>
        </p:grpSpPr>
        <p:sp>
          <p:nvSpPr>
            <p:cNvPr name="Freeform 12" id="12"/>
            <p:cNvSpPr/>
            <p:nvPr/>
          </p:nvSpPr>
          <p:spPr>
            <a:xfrm flipH="false" flipV="false" rot="0">
              <a:off x="0" y="0"/>
              <a:ext cx="1185598" cy="626898"/>
            </a:xfrm>
            <a:custGeom>
              <a:avLst/>
              <a:gdLst/>
              <a:ahLst/>
              <a:cxnLst/>
              <a:rect r="r" b="b" t="t" l="l"/>
              <a:pathLst>
                <a:path h="626898" w="1185598">
                  <a:moveTo>
                    <a:pt x="67073" y="0"/>
                  </a:moveTo>
                  <a:lnTo>
                    <a:pt x="1118525" y="0"/>
                  </a:lnTo>
                  <a:cubicBezTo>
                    <a:pt x="1155568" y="0"/>
                    <a:pt x="1185598" y="30030"/>
                    <a:pt x="1185598" y="67073"/>
                  </a:cubicBezTo>
                  <a:lnTo>
                    <a:pt x="1185598" y="559825"/>
                  </a:lnTo>
                  <a:cubicBezTo>
                    <a:pt x="1185598" y="596868"/>
                    <a:pt x="1155568" y="626898"/>
                    <a:pt x="1118525" y="626898"/>
                  </a:cubicBezTo>
                  <a:lnTo>
                    <a:pt x="67073" y="626898"/>
                  </a:lnTo>
                  <a:cubicBezTo>
                    <a:pt x="30030" y="626898"/>
                    <a:pt x="0" y="596868"/>
                    <a:pt x="0" y="559825"/>
                  </a:cubicBezTo>
                  <a:lnTo>
                    <a:pt x="0" y="67073"/>
                  </a:lnTo>
                  <a:cubicBezTo>
                    <a:pt x="0" y="30030"/>
                    <a:pt x="30030" y="0"/>
                    <a:pt x="67073" y="0"/>
                  </a:cubicBezTo>
                  <a:close/>
                </a:path>
              </a:pathLst>
            </a:custGeom>
            <a:solidFill>
              <a:srgbClr val="202F60">
                <a:alpha val="49804"/>
              </a:srgbClr>
            </a:solidFill>
          </p:spPr>
        </p:sp>
        <p:sp>
          <p:nvSpPr>
            <p:cNvPr name="TextBox 13" id="13"/>
            <p:cNvSpPr txBox="true"/>
            <p:nvPr/>
          </p:nvSpPr>
          <p:spPr>
            <a:xfrm>
              <a:off x="0" y="-57150"/>
              <a:ext cx="1185598" cy="684048"/>
            </a:xfrm>
            <a:prstGeom prst="rect">
              <a:avLst/>
            </a:prstGeom>
          </p:spPr>
          <p:txBody>
            <a:bodyPr anchor="ctr" rtlCol="false" tIns="50800" lIns="50800" bIns="50800" rIns="50800"/>
            <a:lstStyle/>
            <a:p>
              <a:pPr algn="ctr">
                <a:lnSpc>
                  <a:spcPts val="1960"/>
                </a:lnSpc>
              </a:pPr>
            </a:p>
          </p:txBody>
        </p:sp>
      </p:grpSp>
      <p:grpSp>
        <p:nvGrpSpPr>
          <p:cNvPr name="Group 14" id="14"/>
          <p:cNvGrpSpPr/>
          <p:nvPr/>
        </p:nvGrpSpPr>
        <p:grpSpPr>
          <a:xfrm rot="0">
            <a:off x="827280" y="7630406"/>
            <a:ext cx="9198662" cy="1810715"/>
            <a:chOff x="0" y="0"/>
            <a:chExt cx="2422693" cy="476896"/>
          </a:xfrm>
        </p:grpSpPr>
        <p:sp>
          <p:nvSpPr>
            <p:cNvPr name="Freeform 15" id="15"/>
            <p:cNvSpPr/>
            <p:nvPr/>
          </p:nvSpPr>
          <p:spPr>
            <a:xfrm flipH="false" flipV="false" rot="0">
              <a:off x="0" y="0"/>
              <a:ext cx="2422693" cy="476896"/>
            </a:xfrm>
            <a:custGeom>
              <a:avLst/>
              <a:gdLst/>
              <a:ahLst/>
              <a:cxnLst/>
              <a:rect r="r" b="b" t="t" l="l"/>
              <a:pathLst>
                <a:path h="476896" w="2422693">
                  <a:moveTo>
                    <a:pt x="32824" y="0"/>
                  </a:moveTo>
                  <a:lnTo>
                    <a:pt x="2389869" y="0"/>
                  </a:lnTo>
                  <a:cubicBezTo>
                    <a:pt x="2407997" y="0"/>
                    <a:pt x="2422693" y="14696"/>
                    <a:pt x="2422693" y="32824"/>
                  </a:cubicBezTo>
                  <a:lnTo>
                    <a:pt x="2422693" y="444072"/>
                  </a:lnTo>
                  <a:cubicBezTo>
                    <a:pt x="2422693" y="462200"/>
                    <a:pt x="2407997" y="476896"/>
                    <a:pt x="2389869" y="476896"/>
                  </a:cubicBezTo>
                  <a:lnTo>
                    <a:pt x="32824" y="476896"/>
                  </a:lnTo>
                  <a:cubicBezTo>
                    <a:pt x="14696" y="476896"/>
                    <a:pt x="0" y="462200"/>
                    <a:pt x="0" y="444072"/>
                  </a:cubicBezTo>
                  <a:lnTo>
                    <a:pt x="0" y="32824"/>
                  </a:lnTo>
                  <a:cubicBezTo>
                    <a:pt x="0" y="14696"/>
                    <a:pt x="14696" y="0"/>
                    <a:pt x="32824" y="0"/>
                  </a:cubicBezTo>
                  <a:close/>
                </a:path>
              </a:pathLst>
            </a:custGeom>
            <a:solidFill>
              <a:srgbClr val="202F60">
                <a:alpha val="49804"/>
              </a:srgbClr>
            </a:solidFill>
          </p:spPr>
        </p:sp>
        <p:sp>
          <p:nvSpPr>
            <p:cNvPr name="TextBox 16" id="16"/>
            <p:cNvSpPr txBox="true"/>
            <p:nvPr/>
          </p:nvSpPr>
          <p:spPr>
            <a:xfrm>
              <a:off x="0" y="-57150"/>
              <a:ext cx="2422693" cy="534046"/>
            </a:xfrm>
            <a:prstGeom prst="rect">
              <a:avLst/>
            </a:prstGeom>
          </p:spPr>
          <p:txBody>
            <a:bodyPr anchor="ctr" rtlCol="false" tIns="50800" lIns="50800" bIns="50800" rIns="50800"/>
            <a:lstStyle/>
            <a:p>
              <a:pPr algn="ctr">
                <a:lnSpc>
                  <a:spcPts val="1960"/>
                </a:lnSpc>
              </a:pPr>
            </a:p>
          </p:txBody>
        </p:sp>
      </p:grpSp>
      <p:grpSp>
        <p:nvGrpSpPr>
          <p:cNvPr name="Group 17" id="17"/>
          <p:cNvGrpSpPr/>
          <p:nvPr/>
        </p:nvGrpSpPr>
        <p:grpSpPr>
          <a:xfrm rot="0">
            <a:off x="10606031" y="2625574"/>
            <a:ext cx="6876121" cy="6632726"/>
            <a:chOff x="0" y="0"/>
            <a:chExt cx="1810995" cy="1746891"/>
          </a:xfrm>
        </p:grpSpPr>
        <p:sp>
          <p:nvSpPr>
            <p:cNvPr name="Freeform 18" id="18"/>
            <p:cNvSpPr/>
            <p:nvPr/>
          </p:nvSpPr>
          <p:spPr>
            <a:xfrm flipH="false" flipV="false" rot="0">
              <a:off x="0" y="0"/>
              <a:ext cx="1810995" cy="1746891"/>
            </a:xfrm>
            <a:custGeom>
              <a:avLst/>
              <a:gdLst/>
              <a:ahLst/>
              <a:cxnLst/>
              <a:rect r="r" b="b" t="t" l="l"/>
              <a:pathLst>
                <a:path h="1746891" w="1810995">
                  <a:moveTo>
                    <a:pt x="56296" y="0"/>
                  </a:moveTo>
                  <a:lnTo>
                    <a:pt x="1754699" y="0"/>
                  </a:lnTo>
                  <a:cubicBezTo>
                    <a:pt x="1769630" y="0"/>
                    <a:pt x="1783949" y="5931"/>
                    <a:pt x="1794506" y="16489"/>
                  </a:cubicBezTo>
                  <a:cubicBezTo>
                    <a:pt x="1805064" y="27046"/>
                    <a:pt x="1810995" y="41365"/>
                    <a:pt x="1810995" y="56296"/>
                  </a:cubicBezTo>
                  <a:lnTo>
                    <a:pt x="1810995" y="1690595"/>
                  </a:lnTo>
                  <a:cubicBezTo>
                    <a:pt x="1810995" y="1705526"/>
                    <a:pt x="1805064" y="1719845"/>
                    <a:pt x="1794506" y="1730402"/>
                  </a:cubicBezTo>
                  <a:cubicBezTo>
                    <a:pt x="1783949" y="1740960"/>
                    <a:pt x="1769630" y="1746891"/>
                    <a:pt x="1754699" y="1746891"/>
                  </a:cubicBezTo>
                  <a:lnTo>
                    <a:pt x="56296" y="1746891"/>
                  </a:lnTo>
                  <a:cubicBezTo>
                    <a:pt x="41365" y="1746891"/>
                    <a:pt x="27046" y="1740960"/>
                    <a:pt x="16489" y="1730402"/>
                  </a:cubicBezTo>
                  <a:cubicBezTo>
                    <a:pt x="5931" y="1719845"/>
                    <a:pt x="0" y="1705526"/>
                    <a:pt x="0" y="1690595"/>
                  </a:cubicBezTo>
                  <a:lnTo>
                    <a:pt x="0" y="56296"/>
                  </a:lnTo>
                  <a:cubicBezTo>
                    <a:pt x="0" y="41365"/>
                    <a:pt x="5931" y="27046"/>
                    <a:pt x="16489" y="16489"/>
                  </a:cubicBezTo>
                  <a:cubicBezTo>
                    <a:pt x="27046" y="5931"/>
                    <a:pt x="41365" y="0"/>
                    <a:pt x="56296" y="0"/>
                  </a:cubicBezTo>
                  <a:close/>
                </a:path>
              </a:pathLst>
            </a:custGeom>
            <a:solidFill>
              <a:srgbClr val="000000">
                <a:alpha val="0"/>
              </a:srgbClr>
            </a:solidFill>
            <a:ln w="28575" cap="rnd">
              <a:solidFill>
                <a:srgbClr val="FFFFFF"/>
              </a:solidFill>
              <a:prstDash val="solid"/>
              <a:round/>
            </a:ln>
          </p:spPr>
        </p:sp>
        <p:sp>
          <p:nvSpPr>
            <p:cNvPr name="TextBox 19" id="19"/>
            <p:cNvSpPr txBox="true"/>
            <p:nvPr/>
          </p:nvSpPr>
          <p:spPr>
            <a:xfrm>
              <a:off x="0" y="-57150"/>
              <a:ext cx="1810995" cy="1804041"/>
            </a:xfrm>
            <a:prstGeom prst="rect">
              <a:avLst/>
            </a:prstGeom>
          </p:spPr>
          <p:txBody>
            <a:bodyPr anchor="ctr" rtlCol="false" tIns="50800" lIns="50800" bIns="50800" rIns="50800"/>
            <a:lstStyle/>
            <a:p>
              <a:pPr algn="ctr">
                <a:lnSpc>
                  <a:spcPts val="1960"/>
                </a:lnSpc>
              </a:pPr>
            </a:p>
          </p:txBody>
        </p:sp>
      </p:grpSp>
      <p:sp>
        <p:nvSpPr>
          <p:cNvPr name="Freeform 20" id="20"/>
          <p:cNvSpPr/>
          <p:nvPr/>
        </p:nvSpPr>
        <p:spPr>
          <a:xfrm flipH="false" flipV="false" rot="0">
            <a:off x="13846523" y="8991742"/>
            <a:ext cx="380120" cy="95030"/>
          </a:xfrm>
          <a:custGeom>
            <a:avLst/>
            <a:gdLst/>
            <a:ahLst/>
            <a:cxnLst/>
            <a:rect r="r" b="b" t="t" l="l"/>
            <a:pathLst>
              <a:path h="95030" w="380120">
                <a:moveTo>
                  <a:pt x="0" y="0"/>
                </a:moveTo>
                <a:lnTo>
                  <a:pt x="380120" y="0"/>
                </a:lnTo>
                <a:lnTo>
                  <a:pt x="380120" y="95030"/>
                </a:lnTo>
                <a:lnTo>
                  <a:pt x="0" y="9503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3846523" y="2797102"/>
            <a:ext cx="380120" cy="95030"/>
          </a:xfrm>
          <a:custGeom>
            <a:avLst/>
            <a:gdLst/>
            <a:ahLst/>
            <a:cxnLst/>
            <a:rect r="r" b="b" t="t" l="l"/>
            <a:pathLst>
              <a:path h="95030" w="380120">
                <a:moveTo>
                  <a:pt x="0" y="0"/>
                </a:moveTo>
                <a:lnTo>
                  <a:pt x="380120" y="0"/>
                </a:lnTo>
                <a:lnTo>
                  <a:pt x="380120" y="95030"/>
                </a:lnTo>
                <a:lnTo>
                  <a:pt x="0" y="9503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22" id="22"/>
          <p:cNvGrpSpPr/>
          <p:nvPr/>
        </p:nvGrpSpPr>
        <p:grpSpPr>
          <a:xfrm rot="0">
            <a:off x="11041635" y="2968468"/>
            <a:ext cx="2864346" cy="2864346"/>
            <a:chOff x="0" y="0"/>
            <a:chExt cx="812800" cy="812800"/>
          </a:xfrm>
        </p:grpSpPr>
        <p:sp>
          <p:nvSpPr>
            <p:cNvPr name="Freeform 23" id="23"/>
            <p:cNvSpPr/>
            <p:nvPr/>
          </p:nvSpPr>
          <p:spPr>
            <a:xfrm flipH="false" flipV="false" rot="0">
              <a:off x="0" y="0"/>
              <a:ext cx="812800" cy="812800"/>
            </a:xfrm>
            <a:custGeom>
              <a:avLst/>
              <a:gdLst/>
              <a:ahLst/>
              <a:cxnLst/>
              <a:rect r="r" b="b" t="t" l="l"/>
              <a:pathLst>
                <a:path h="812800" w="812800">
                  <a:moveTo>
                    <a:pt x="40543" y="0"/>
                  </a:moveTo>
                  <a:lnTo>
                    <a:pt x="772257" y="0"/>
                  </a:lnTo>
                  <a:cubicBezTo>
                    <a:pt x="783010" y="0"/>
                    <a:pt x="793322" y="4271"/>
                    <a:pt x="800925" y="11875"/>
                  </a:cubicBezTo>
                  <a:cubicBezTo>
                    <a:pt x="808529" y="19478"/>
                    <a:pt x="812800" y="29790"/>
                    <a:pt x="812800" y="40543"/>
                  </a:cubicBezTo>
                  <a:lnTo>
                    <a:pt x="812800" y="772257"/>
                  </a:lnTo>
                  <a:cubicBezTo>
                    <a:pt x="812800" y="783010"/>
                    <a:pt x="808529" y="793322"/>
                    <a:pt x="800925" y="800925"/>
                  </a:cubicBezTo>
                  <a:cubicBezTo>
                    <a:pt x="793322" y="808529"/>
                    <a:pt x="783010" y="812800"/>
                    <a:pt x="772257" y="812800"/>
                  </a:cubicBezTo>
                  <a:lnTo>
                    <a:pt x="40543" y="812800"/>
                  </a:lnTo>
                  <a:cubicBezTo>
                    <a:pt x="29790" y="812800"/>
                    <a:pt x="19478" y="808529"/>
                    <a:pt x="11875" y="800925"/>
                  </a:cubicBezTo>
                  <a:cubicBezTo>
                    <a:pt x="4271" y="793322"/>
                    <a:pt x="0" y="783010"/>
                    <a:pt x="0" y="772257"/>
                  </a:cubicBezTo>
                  <a:lnTo>
                    <a:pt x="0" y="40543"/>
                  </a:lnTo>
                  <a:cubicBezTo>
                    <a:pt x="0" y="29790"/>
                    <a:pt x="4271" y="19478"/>
                    <a:pt x="11875" y="11875"/>
                  </a:cubicBezTo>
                  <a:cubicBezTo>
                    <a:pt x="19478" y="4271"/>
                    <a:pt x="29790" y="0"/>
                    <a:pt x="40543" y="0"/>
                  </a:cubicBezTo>
                  <a:close/>
                </a:path>
              </a:pathLst>
            </a:custGeom>
            <a:blipFill>
              <a:blip r:embed="rId4"/>
              <a:stretch>
                <a:fillRect l="-39285" t="0" r="-39285" b="0"/>
              </a:stretch>
            </a:blipFill>
            <a:ln w="47625" cap="sq">
              <a:solidFill>
                <a:srgbClr val="10162A"/>
              </a:solidFill>
              <a:prstDash val="solid"/>
              <a:miter/>
            </a:ln>
          </p:spPr>
        </p:sp>
      </p:grpSp>
      <p:grpSp>
        <p:nvGrpSpPr>
          <p:cNvPr name="Group 24" id="24"/>
          <p:cNvGrpSpPr/>
          <p:nvPr/>
        </p:nvGrpSpPr>
        <p:grpSpPr>
          <a:xfrm rot="0">
            <a:off x="14167184" y="2968468"/>
            <a:ext cx="2864346" cy="2864346"/>
            <a:chOff x="0" y="0"/>
            <a:chExt cx="812800" cy="812800"/>
          </a:xfrm>
        </p:grpSpPr>
        <p:sp>
          <p:nvSpPr>
            <p:cNvPr name="Freeform 25" id="25"/>
            <p:cNvSpPr/>
            <p:nvPr/>
          </p:nvSpPr>
          <p:spPr>
            <a:xfrm flipH="false" flipV="false" rot="0">
              <a:off x="0" y="0"/>
              <a:ext cx="812800" cy="812800"/>
            </a:xfrm>
            <a:custGeom>
              <a:avLst/>
              <a:gdLst/>
              <a:ahLst/>
              <a:cxnLst/>
              <a:rect r="r" b="b" t="t" l="l"/>
              <a:pathLst>
                <a:path h="812800" w="812800">
                  <a:moveTo>
                    <a:pt x="40543" y="0"/>
                  </a:moveTo>
                  <a:lnTo>
                    <a:pt x="772257" y="0"/>
                  </a:lnTo>
                  <a:cubicBezTo>
                    <a:pt x="783010" y="0"/>
                    <a:pt x="793322" y="4271"/>
                    <a:pt x="800925" y="11875"/>
                  </a:cubicBezTo>
                  <a:cubicBezTo>
                    <a:pt x="808529" y="19478"/>
                    <a:pt x="812800" y="29790"/>
                    <a:pt x="812800" y="40543"/>
                  </a:cubicBezTo>
                  <a:lnTo>
                    <a:pt x="812800" y="772257"/>
                  </a:lnTo>
                  <a:cubicBezTo>
                    <a:pt x="812800" y="783010"/>
                    <a:pt x="808529" y="793322"/>
                    <a:pt x="800925" y="800925"/>
                  </a:cubicBezTo>
                  <a:cubicBezTo>
                    <a:pt x="793322" y="808529"/>
                    <a:pt x="783010" y="812800"/>
                    <a:pt x="772257" y="812800"/>
                  </a:cubicBezTo>
                  <a:lnTo>
                    <a:pt x="40543" y="812800"/>
                  </a:lnTo>
                  <a:cubicBezTo>
                    <a:pt x="29790" y="812800"/>
                    <a:pt x="19478" y="808529"/>
                    <a:pt x="11875" y="800925"/>
                  </a:cubicBezTo>
                  <a:cubicBezTo>
                    <a:pt x="4271" y="793322"/>
                    <a:pt x="0" y="783010"/>
                    <a:pt x="0" y="772257"/>
                  </a:cubicBezTo>
                  <a:lnTo>
                    <a:pt x="0" y="40543"/>
                  </a:lnTo>
                  <a:cubicBezTo>
                    <a:pt x="0" y="29790"/>
                    <a:pt x="4271" y="19478"/>
                    <a:pt x="11875" y="11875"/>
                  </a:cubicBezTo>
                  <a:cubicBezTo>
                    <a:pt x="19478" y="4271"/>
                    <a:pt x="29790" y="0"/>
                    <a:pt x="40543" y="0"/>
                  </a:cubicBezTo>
                  <a:close/>
                </a:path>
              </a:pathLst>
            </a:custGeom>
            <a:blipFill>
              <a:blip r:embed="rId5"/>
              <a:stretch>
                <a:fillRect l="-25136" t="0" r="-25136" b="0"/>
              </a:stretch>
            </a:blipFill>
            <a:ln w="47625" cap="sq">
              <a:solidFill>
                <a:srgbClr val="10162A"/>
              </a:solidFill>
              <a:prstDash val="solid"/>
              <a:miter/>
            </a:ln>
          </p:spPr>
        </p:sp>
      </p:grpSp>
      <p:grpSp>
        <p:nvGrpSpPr>
          <p:cNvPr name="Group 26" id="26"/>
          <p:cNvGrpSpPr/>
          <p:nvPr/>
        </p:nvGrpSpPr>
        <p:grpSpPr>
          <a:xfrm rot="0">
            <a:off x="11041635" y="6051060"/>
            <a:ext cx="2864346" cy="2864346"/>
            <a:chOff x="0" y="0"/>
            <a:chExt cx="812800" cy="812800"/>
          </a:xfrm>
        </p:grpSpPr>
        <p:sp>
          <p:nvSpPr>
            <p:cNvPr name="Freeform 27" id="27"/>
            <p:cNvSpPr/>
            <p:nvPr/>
          </p:nvSpPr>
          <p:spPr>
            <a:xfrm flipH="false" flipV="false" rot="0">
              <a:off x="0" y="0"/>
              <a:ext cx="812800" cy="812800"/>
            </a:xfrm>
            <a:custGeom>
              <a:avLst/>
              <a:gdLst/>
              <a:ahLst/>
              <a:cxnLst/>
              <a:rect r="r" b="b" t="t" l="l"/>
              <a:pathLst>
                <a:path h="812800" w="812800">
                  <a:moveTo>
                    <a:pt x="40543" y="0"/>
                  </a:moveTo>
                  <a:lnTo>
                    <a:pt x="772257" y="0"/>
                  </a:lnTo>
                  <a:cubicBezTo>
                    <a:pt x="783010" y="0"/>
                    <a:pt x="793322" y="4271"/>
                    <a:pt x="800925" y="11875"/>
                  </a:cubicBezTo>
                  <a:cubicBezTo>
                    <a:pt x="808529" y="19478"/>
                    <a:pt x="812800" y="29790"/>
                    <a:pt x="812800" y="40543"/>
                  </a:cubicBezTo>
                  <a:lnTo>
                    <a:pt x="812800" y="772257"/>
                  </a:lnTo>
                  <a:cubicBezTo>
                    <a:pt x="812800" y="783010"/>
                    <a:pt x="808529" y="793322"/>
                    <a:pt x="800925" y="800925"/>
                  </a:cubicBezTo>
                  <a:cubicBezTo>
                    <a:pt x="793322" y="808529"/>
                    <a:pt x="783010" y="812800"/>
                    <a:pt x="772257" y="812800"/>
                  </a:cubicBezTo>
                  <a:lnTo>
                    <a:pt x="40543" y="812800"/>
                  </a:lnTo>
                  <a:cubicBezTo>
                    <a:pt x="29790" y="812800"/>
                    <a:pt x="19478" y="808529"/>
                    <a:pt x="11875" y="800925"/>
                  </a:cubicBezTo>
                  <a:cubicBezTo>
                    <a:pt x="4271" y="793322"/>
                    <a:pt x="0" y="783010"/>
                    <a:pt x="0" y="772257"/>
                  </a:cubicBezTo>
                  <a:lnTo>
                    <a:pt x="0" y="40543"/>
                  </a:lnTo>
                  <a:cubicBezTo>
                    <a:pt x="0" y="29790"/>
                    <a:pt x="4271" y="19478"/>
                    <a:pt x="11875" y="11875"/>
                  </a:cubicBezTo>
                  <a:cubicBezTo>
                    <a:pt x="19478" y="4271"/>
                    <a:pt x="29790" y="0"/>
                    <a:pt x="40543" y="0"/>
                  </a:cubicBezTo>
                  <a:close/>
                </a:path>
              </a:pathLst>
            </a:custGeom>
            <a:blipFill>
              <a:blip r:embed="rId6"/>
              <a:stretch>
                <a:fillRect l="-38988" t="0" r="-38988" b="0"/>
              </a:stretch>
            </a:blipFill>
            <a:ln w="47625" cap="sq">
              <a:solidFill>
                <a:srgbClr val="10162A"/>
              </a:solidFill>
              <a:prstDash val="solid"/>
              <a:miter/>
            </a:ln>
          </p:spPr>
        </p:sp>
      </p:grpSp>
      <p:grpSp>
        <p:nvGrpSpPr>
          <p:cNvPr name="Group 28" id="28"/>
          <p:cNvGrpSpPr/>
          <p:nvPr/>
        </p:nvGrpSpPr>
        <p:grpSpPr>
          <a:xfrm rot="0">
            <a:off x="14167184" y="6051060"/>
            <a:ext cx="2864346" cy="2864346"/>
            <a:chOff x="0" y="0"/>
            <a:chExt cx="812800" cy="812800"/>
          </a:xfrm>
        </p:grpSpPr>
        <p:sp>
          <p:nvSpPr>
            <p:cNvPr name="Freeform 29" id="29"/>
            <p:cNvSpPr/>
            <p:nvPr/>
          </p:nvSpPr>
          <p:spPr>
            <a:xfrm flipH="false" flipV="false" rot="0">
              <a:off x="0" y="0"/>
              <a:ext cx="812800" cy="812800"/>
            </a:xfrm>
            <a:custGeom>
              <a:avLst/>
              <a:gdLst/>
              <a:ahLst/>
              <a:cxnLst/>
              <a:rect r="r" b="b" t="t" l="l"/>
              <a:pathLst>
                <a:path h="812800" w="812800">
                  <a:moveTo>
                    <a:pt x="40543" y="0"/>
                  </a:moveTo>
                  <a:lnTo>
                    <a:pt x="772257" y="0"/>
                  </a:lnTo>
                  <a:cubicBezTo>
                    <a:pt x="783010" y="0"/>
                    <a:pt x="793322" y="4271"/>
                    <a:pt x="800925" y="11875"/>
                  </a:cubicBezTo>
                  <a:cubicBezTo>
                    <a:pt x="808529" y="19478"/>
                    <a:pt x="812800" y="29790"/>
                    <a:pt x="812800" y="40543"/>
                  </a:cubicBezTo>
                  <a:lnTo>
                    <a:pt x="812800" y="772257"/>
                  </a:lnTo>
                  <a:cubicBezTo>
                    <a:pt x="812800" y="783010"/>
                    <a:pt x="808529" y="793322"/>
                    <a:pt x="800925" y="800925"/>
                  </a:cubicBezTo>
                  <a:cubicBezTo>
                    <a:pt x="793322" y="808529"/>
                    <a:pt x="783010" y="812800"/>
                    <a:pt x="772257" y="812800"/>
                  </a:cubicBezTo>
                  <a:lnTo>
                    <a:pt x="40543" y="812800"/>
                  </a:lnTo>
                  <a:cubicBezTo>
                    <a:pt x="29790" y="812800"/>
                    <a:pt x="19478" y="808529"/>
                    <a:pt x="11875" y="800925"/>
                  </a:cubicBezTo>
                  <a:cubicBezTo>
                    <a:pt x="4271" y="793322"/>
                    <a:pt x="0" y="783010"/>
                    <a:pt x="0" y="772257"/>
                  </a:cubicBezTo>
                  <a:lnTo>
                    <a:pt x="0" y="40543"/>
                  </a:lnTo>
                  <a:cubicBezTo>
                    <a:pt x="0" y="29790"/>
                    <a:pt x="4271" y="19478"/>
                    <a:pt x="11875" y="11875"/>
                  </a:cubicBezTo>
                  <a:cubicBezTo>
                    <a:pt x="19478" y="4271"/>
                    <a:pt x="29790" y="0"/>
                    <a:pt x="40543" y="0"/>
                  </a:cubicBezTo>
                  <a:close/>
                </a:path>
              </a:pathLst>
            </a:custGeom>
            <a:blipFill>
              <a:blip r:embed="rId7"/>
              <a:stretch>
                <a:fillRect l="-16752" t="0" r="-16752" b="0"/>
              </a:stretch>
            </a:blipFill>
            <a:ln w="47625" cap="sq">
              <a:solidFill>
                <a:srgbClr val="10162A"/>
              </a:solidFill>
              <a:prstDash val="solid"/>
              <a:miter/>
            </a:ln>
          </p:spPr>
        </p:sp>
      </p:grpSp>
      <p:sp>
        <p:nvSpPr>
          <p:cNvPr name="TextBox 30" id="30"/>
          <p:cNvSpPr txBox="true"/>
          <p:nvPr/>
        </p:nvSpPr>
        <p:spPr>
          <a:xfrm rot="0">
            <a:off x="1284447" y="2863305"/>
            <a:ext cx="3587234" cy="1381125"/>
          </a:xfrm>
          <a:prstGeom prst="rect">
            <a:avLst/>
          </a:prstGeom>
        </p:spPr>
        <p:txBody>
          <a:bodyPr anchor="t" rtlCol="false" tIns="0" lIns="0" bIns="0" rIns="0">
            <a:spAutoFit/>
          </a:bodyPr>
          <a:lstStyle/>
          <a:p>
            <a:pPr algn="ctr">
              <a:lnSpc>
                <a:spcPts val="3596"/>
              </a:lnSpc>
              <a:spcBef>
                <a:spcPct val="0"/>
              </a:spcBef>
            </a:pPr>
            <a:r>
              <a:rPr lang="en-US" b="true" sz="2996" spc="-149">
                <a:solidFill>
                  <a:srgbClr val="FFFFFF"/>
                </a:solidFill>
                <a:latin typeface="Telegraf Bold"/>
                <a:ea typeface="Telegraf Bold"/>
                <a:cs typeface="Telegraf Bold"/>
                <a:sym typeface="Telegraf Bold"/>
              </a:rPr>
              <a:t>Rata-rata 11 penembakan masal per minggu​</a:t>
            </a:r>
          </a:p>
        </p:txBody>
      </p:sp>
      <p:sp>
        <p:nvSpPr>
          <p:cNvPr name="TextBox 31" id="31"/>
          <p:cNvSpPr txBox="true"/>
          <p:nvPr/>
        </p:nvSpPr>
        <p:spPr>
          <a:xfrm rot="0">
            <a:off x="5861553" y="2639468"/>
            <a:ext cx="3827212" cy="1828800"/>
          </a:xfrm>
          <a:prstGeom prst="rect">
            <a:avLst/>
          </a:prstGeom>
        </p:spPr>
        <p:txBody>
          <a:bodyPr anchor="t" rtlCol="false" tIns="0" lIns="0" bIns="0" rIns="0">
            <a:spAutoFit/>
          </a:bodyPr>
          <a:lstStyle/>
          <a:p>
            <a:pPr algn="ctr">
              <a:lnSpc>
                <a:spcPts val="3596"/>
              </a:lnSpc>
              <a:spcBef>
                <a:spcPct val="0"/>
              </a:spcBef>
            </a:pPr>
            <a:r>
              <a:rPr lang="en-US" b="true" sz="2996" spc="-149">
                <a:solidFill>
                  <a:srgbClr val="FFFFFF"/>
                </a:solidFill>
                <a:latin typeface="Telegraf Bold"/>
                <a:ea typeface="Telegraf Bold"/>
                <a:cs typeface="Telegraf Bold"/>
                <a:sym typeface="Telegraf Bold"/>
              </a:rPr>
              <a:t>Higher rate of anti-depressant use among those exposed to a school shooting </a:t>
            </a:r>
          </a:p>
        </p:txBody>
      </p:sp>
      <p:sp>
        <p:nvSpPr>
          <p:cNvPr name="TextBox 32" id="32"/>
          <p:cNvSpPr txBox="true"/>
          <p:nvPr/>
        </p:nvSpPr>
        <p:spPr>
          <a:xfrm rot="0">
            <a:off x="1284447" y="5270920"/>
            <a:ext cx="3587234" cy="1828800"/>
          </a:xfrm>
          <a:prstGeom prst="rect">
            <a:avLst/>
          </a:prstGeom>
        </p:spPr>
        <p:txBody>
          <a:bodyPr anchor="t" rtlCol="false" tIns="0" lIns="0" bIns="0" rIns="0">
            <a:spAutoFit/>
          </a:bodyPr>
          <a:lstStyle/>
          <a:p>
            <a:pPr algn="ctr">
              <a:lnSpc>
                <a:spcPts val="3596"/>
              </a:lnSpc>
              <a:spcBef>
                <a:spcPct val="0"/>
              </a:spcBef>
            </a:pPr>
            <a:r>
              <a:rPr lang="en-US" b="true" sz="2996" spc="-149">
                <a:solidFill>
                  <a:srgbClr val="FFFFFF"/>
                </a:solidFill>
                <a:latin typeface="Telegraf Bold"/>
                <a:ea typeface="Telegraf Bold"/>
                <a:cs typeface="Telegraf Bold"/>
                <a:sym typeface="Telegraf Bold"/>
              </a:rPr>
              <a:t>Students exposed to shootings at their schools are less likely to graduate</a:t>
            </a:r>
          </a:p>
        </p:txBody>
      </p:sp>
      <p:sp>
        <p:nvSpPr>
          <p:cNvPr name="TextBox 33" id="33"/>
          <p:cNvSpPr txBox="true"/>
          <p:nvPr/>
        </p:nvSpPr>
        <p:spPr>
          <a:xfrm rot="0">
            <a:off x="5803313" y="5270920"/>
            <a:ext cx="3943691" cy="1828800"/>
          </a:xfrm>
          <a:prstGeom prst="rect">
            <a:avLst/>
          </a:prstGeom>
        </p:spPr>
        <p:txBody>
          <a:bodyPr anchor="t" rtlCol="false" tIns="0" lIns="0" bIns="0" rIns="0">
            <a:spAutoFit/>
          </a:bodyPr>
          <a:lstStyle/>
          <a:p>
            <a:pPr algn="ctr">
              <a:lnSpc>
                <a:spcPts val="3596"/>
              </a:lnSpc>
              <a:spcBef>
                <a:spcPct val="0"/>
              </a:spcBef>
            </a:pPr>
            <a:r>
              <a:rPr lang="en-US" b="true" sz="2996" spc="-149">
                <a:solidFill>
                  <a:srgbClr val="FFFFFF"/>
                </a:solidFill>
                <a:latin typeface="Telegraf Bold"/>
                <a:ea typeface="Telegraf Bold"/>
                <a:cs typeface="Telegraf Bold"/>
                <a:sym typeface="Telegraf Bold"/>
              </a:rPr>
              <a:t>Pendeteksian penembakan masal di sekolah sangat lambat dan tidak efisien.​</a:t>
            </a:r>
          </a:p>
        </p:txBody>
      </p:sp>
      <p:sp>
        <p:nvSpPr>
          <p:cNvPr name="TextBox 34" id="34"/>
          <p:cNvSpPr txBox="true"/>
          <p:nvPr/>
        </p:nvSpPr>
        <p:spPr>
          <a:xfrm rot="0">
            <a:off x="1292403" y="7826110"/>
            <a:ext cx="8268416" cy="1381125"/>
          </a:xfrm>
          <a:prstGeom prst="rect">
            <a:avLst/>
          </a:prstGeom>
        </p:spPr>
        <p:txBody>
          <a:bodyPr anchor="t" rtlCol="false" tIns="0" lIns="0" bIns="0" rIns="0">
            <a:spAutoFit/>
          </a:bodyPr>
          <a:lstStyle/>
          <a:p>
            <a:pPr algn="ctr">
              <a:lnSpc>
                <a:spcPts val="3596"/>
              </a:lnSpc>
              <a:spcBef>
                <a:spcPct val="0"/>
              </a:spcBef>
            </a:pPr>
            <a:r>
              <a:rPr lang="en-US" b="true" sz="2996" spc="-149">
                <a:solidFill>
                  <a:srgbClr val="FFFFFF"/>
                </a:solidFill>
                <a:latin typeface="Telegraf Bold"/>
                <a:ea typeface="Telegraf Bold"/>
                <a:cs typeface="Telegraf Bold"/>
                <a:sym typeface="Telegraf Bold"/>
              </a:rPr>
              <a:t>Lambatnya pendeteksian membuat siswa tak memiliki banyak waktu untuk melarikan diri sehingga menurunkan chance of survival.​</a:t>
            </a:r>
          </a:p>
        </p:txBody>
      </p:sp>
      <p:sp>
        <p:nvSpPr>
          <p:cNvPr name="TextBox 35" id="35"/>
          <p:cNvSpPr txBox="true"/>
          <p:nvPr/>
        </p:nvSpPr>
        <p:spPr>
          <a:xfrm rot="0">
            <a:off x="6592102" y="212883"/>
            <a:ext cx="5103797" cy="1212534"/>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Permasalahan</a:t>
            </a:r>
          </a:p>
        </p:txBody>
      </p:sp>
      <p:sp>
        <p:nvSpPr>
          <p:cNvPr name="Freeform 36" id="36"/>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8"/>
            <a:stretch>
              <a:fillRect l="0" t="0" r="0" b="0"/>
            </a:stretch>
          </a:blipFill>
        </p:spPr>
      </p:sp>
      <p:sp>
        <p:nvSpPr>
          <p:cNvPr name="Freeform 37" id="37"/>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9"/>
            <a:stretch>
              <a:fillRect l="0" t="0" r="0" b="0"/>
            </a:stretch>
          </a:blipFill>
        </p:spPr>
      </p:sp>
      <p:sp>
        <p:nvSpPr>
          <p:cNvPr name="Freeform 38" id="38"/>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10"/>
            <a:stretch>
              <a:fillRect l="0" t="0" r="0" b="0"/>
            </a:stretch>
          </a:blipFill>
        </p:spPr>
      </p:sp>
      <p:sp>
        <p:nvSpPr>
          <p:cNvPr name="TextBox 39" id="39"/>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0" y="-4754753"/>
            <a:ext cx="18288000" cy="18288000"/>
          </a:xfrm>
          <a:custGeom>
            <a:avLst/>
            <a:gdLst/>
            <a:ahLst/>
            <a:cxnLst/>
            <a:rect r="r" b="b" t="t" l="l"/>
            <a:pathLst>
              <a:path h="18288000" w="18288000">
                <a:moveTo>
                  <a:pt x="0" y="0"/>
                </a:moveTo>
                <a:lnTo>
                  <a:pt x="18288000" y="0"/>
                </a:lnTo>
                <a:lnTo>
                  <a:pt x="18288000" y="18288000"/>
                </a:lnTo>
                <a:lnTo>
                  <a:pt x="0" y="18288000"/>
                </a:lnTo>
                <a:lnTo>
                  <a:pt x="0" y="0"/>
                </a:lnTo>
                <a:close/>
              </a:path>
            </a:pathLst>
          </a:custGeom>
          <a:blipFill>
            <a:blip r:embed="rId2"/>
            <a:stretch>
              <a:fillRect l="0" t="0" r="0" b="0"/>
            </a:stretch>
          </a:blipFill>
        </p:spPr>
      </p:sp>
      <p:grpSp>
        <p:nvGrpSpPr>
          <p:cNvPr name="Group 3" id="3"/>
          <p:cNvGrpSpPr/>
          <p:nvPr/>
        </p:nvGrpSpPr>
        <p:grpSpPr>
          <a:xfrm rot="0">
            <a:off x="0" y="-57150"/>
            <a:ext cx="18288000" cy="10540440"/>
            <a:chOff x="0" y="0"/>
            <a:chExt cx="4816593" cy="2776083"/>
          </a:xfrm>
        </p:grpSpPr>
        <p:sp>
          <p:nvSpPr>
            <p:cNvPr name="Freeform 4" id="4"/>
            <p:cNvSpPr/>
            <p:nvPr/>
          </p:nvSpPr>
          <p:spPr>
            <a:xfrm flipH="false" flipV="false" rot="0">
              <a:off x="0" y="0"/>
              <a:ext cx="4816592" cy="2776083"/>
            </a:xfrm>
            <a:custGeom>
              <a:avLst/>
              <a:gdLst/>
              <a:ahLst/>
              <a:cxnLst/>
              <a:rect r="r" b="b" t="t" l="l"/>
              <a:pathLst>
                <a:path h="2776083" w="4816592">
                  <a:moveTo>
                    <a:pt x="0" y="0"/>
                  </a:moveTo>
                  <a:lnTo>
                    <a:pt x="4816592" y="0"/>
                  </a:lnTo>
                  <a:lnTo>
                    <a:pt x="4816592" y="2776083"/>
                  </a:lnTo>
                  <a:lnTo>
                    <a:pt x="0" y="2776083"/>
                  </a:lnTo>
                  <a:close/>
                </a:path>
              </a:pathLst>
            </a:custGeom>
            <a:solidFill>
              <a:srgbClr val="000000">
                <a:alpha val="69804"/>
              </a:srgbClr>
            </a:solidFill>
          </p:spPr>
        </p:sp>
        <p:sp>
          <p:nvSpPr>
            <p:cNvPr name="TextBox 5" id="5"/>
            <p:cNvSpPr txBox="true"/>
            <p:nvPr/>
          </p:nvSpPr>
          <p:spPr>
            <a:xfrm>
              <a:off x="0" y="-66675"/>
              <a:ext cx="4816593" cy="2842758"/>
            </a:xfrm>
            <a:prstGeom prst="rect">
              <a:avLst/>
            </a:prstGeom>
          </p:spPr>
          <p:txBody>
            <a:bodyPr anchor="ctr" rtlCol="false" tIns="50800" lIns="50800" bIns="50800" rIns="50800"/>
            <a:lstStyle/>
            <a:p>
              <a:pPr algn="ctr">
                <a:lnSpc>
                  <a:spcPts val="2854"/>
                </a:lnSpc>
              </a:pPr>
            </a:p>
          </p:txBody>
        </p:sp>
      </p:grpSp>
      <p:grpSp>
        <p:nvGrpSpPr>
          <p:cNvPr name="Group 6" id="6"/>
          <p:cNvGrpSpPr/>
          <p:nvPr/>
        </p:nvGrpSpPr>
        <p:grpSpPr>
          <a:xfrm rot="0">
            <a:off x="2677556" y="4059639"/>
            <a:ext cx="13042871" cy="2167721"/>
            <a:chOff x="0" y="0"/>
            <a:chExt cx="3435160" cy="570922"/>
          </a:xfrm>
        </p:grpSpPr>
        <p:sp>
          <p:nvSpPr>
            <p:cNvPr name="Freeform 7" id="7"/>
            <p:cNvSpPr/>
            <p:nvPr/>
          </p:nvSpPr>
          <p:spPr>
            <a:xfrm flipH="false" flipV="false" rot="0">
              <a:off x="0" y="0"/>
              <a:ext cx="3435160" cy="570922"/>
            </a:xfrm>
            <a:custGeom>
              <a:avLst/>
              <a:gdLst/>
              <a:ahLst/>
              <a:cxnLst/>
              <a:rect r="r" b="b" t="t" l="l"/>
              <a:pathLst>
                <a:path h="570922" w="3435160">
                  <a:moveTo>
                    <a:pt x="36802" y="0"/>
                  </a:moveTo>
                  <a:lnTo>
                    <a:pt x="3398358" y="0"/>
                  </a:lnTo>
                  <a:cubicBezTo>
                    <a:pt x="3418683" y="0"/>
                    <a:pt x="3435160" y="16477"/>
                    <a:pt x="3435160" y="36802"/>
                  </a:cubicBezTo>
                  <a:lnTo>
                    <a:pt x="3435160" y="534121"/>
                  </a:lnTo>
                  <a:cubicBezTo>
                    <a:pt x="3435160" y="554446"/>
                    <a:pt x="3418683" y="570922"/>
                    <a:pt x="3398358" y="570922"/>
                  </a:cubicBezTo>
                  <a:lnTo>
                    <a:pt x="36802" y="570922"/>
                  </a:lnTo>
                  <a:cubicBezTo>
                    <a:pt x="16477" y="570922"/>
                    <a:pt x="0" y="554446"/>
                    <a:pt x="0" y="534121"/>
                  </a:cubicBezTo>
                  <a:lnTo>
                    <a:pt x="0" y="36802"/>
                  </a:lnTo>
                  <a:cubicBezTo>
                    <a:pt x="0" y="16477"/>
                    <a:pt x="16477" y="0"/>
                    <a:pt x="36802" y="0"/>
                  </a:cubicBezTo>
                  <a:close/>
                </a:path>
              </a:pathLst>
            </a:custGeom>
            <a:solidFill>
              <a:srgbClr val="10162A">
                <a:alpha val="49804"/>
              </a:srgbClr>
            </a:solidFill>
          </p:spPr>
        </p:sp>
        <p:sp>
          <p:nvSpPr>
            <p:cNvPr name="TextBox 8" id="8"/>
            <p:cNvSpPr txBox="true"/>
            <p:nvPr/>
          </p:nvSpPr>
          <p:spPr>
            <a:xfrm>
              <a:off x="0" y="-57150"/>
              <a:ext cx="3435160" cy="628072"/>
            </a:xfrm>
            <a:prstGeom prst="rect">
              <a:avLst/>
            </a:prstGeom>
          </p:spPr>
          <p:txBody>
            <a:bodyPr anchor="ctr" rtlCol="false" tIns="50800" lIns="50800" bIns="50800" rIns="50800"/>
            <a:lstStyle/>
            <a:p>
              <a:pPr algn="ctr">
                <a:lnSpc>
                  <a:spcPts val="1960"/>
                </a:lnSpc>
              </a:pPr>
            </a:p>
          </p:txBody>
        </p:sp>
      </p:grpSp>
      <p:sp>
        <p:nvSpPr>
          <p:cNvPr name="TextBox 9" id="9"/>
          <p:cNvSpPr txBox="true"/>
          <p:nvPr/>
        </p:nvSpPr>
        <p:spPr>
          <a:xfrm rot="0">
            <a:off x="1899434" y="4255897"/>
            <a:ext cx="14489132" cy="1565541"/>
          </a:xfrm>
          <a:prstGeom prst="rect">
            <a:avLst/>
          </a:prstGeom>
        </p:spPr>
        <p:txBody>
          <a:bodyPr anchor="t" rtlCol="false" tIns="0" lIns="0" bIns="0" rIns="0">
            <a:spAutoFit/>
          </a:bodyPr>
          <a:lstStyle/>
          <a:p>
            <a:pPr algn="ctr">
              <a:lnSpc>
                <a:spcPts val="6110"/>
              </a:lnSpc>
              <a:spcBef>
                <a:spcPct val="0"/>
              </a:spcBef>
            </a:pPr>
            <a:r>
              <a:rPr lang="en-US" b="true" sz="4364" spc="-218">
                <a:solidFill>
                  <a:srgbClr val="FFFFFF"/>
                </a:solidFill>
                <a:latin typeface="Telegraf Medium"/>
                <a:ea typeface="Telegraf Medium"/>
                <a:cs typeface="Telegraf Medium"/>
                <a:sym typeface="Telegraf Medium"/>
              </a:rPr>
              <a:t>Dibutuhkan sistem cerdas yang mampu mendeteksi penembakan masal lebih dini secara cepat dan tepat.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1138099" y="2682846"/>
            <a:ext cx="5039787" cy="5039787"/>
          </a:xfrm>
          <a:custGeom>
            <a:avLst/>
            <a:gdLst/>
            <a:ahLst/>
            <a:cxnLst/>
            <a:rect r="r" b="b" t="t" l="l"/>
            <a:pathLst>
              <a:path h="5039787" w="5039787">
                <a:moveTo>
                  <a:pt x="0" y="0"/>
                </a:moveTo>
                <a:lnTo>
                  <a:pt x="5039787" y="0"/>
                </a:lnTo>
                <a:lnTo>
                  <a:pt x="5039787" y="5039787"/>
                </a:lnTo>
                <a:lnTo>
                  <a:pt x="0" y="5039787"/>
                </a:lnTo>
                <a:lnTo>
                  <a:pt x="0" y="0"/>
                </a:lnTo>
                <a:close/>
              </a:path>
            </a:pathLst>
          </a:custGeom>
          <a:blipFill>
            <a:blip r:embed="rId2"/>
            <a:stretch>
              <a:fillRect l="0" t="0" r="0" b="0"/>
            </a:stretch>
          </a:blipFill>
        </p:spPr>
      </p:sp>
      <p:sp>
        <p:nvSpPr>
          <p:cNvPr name="Freeform 3" id="3"/>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4" id="4"/>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5" id="5"/>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6" id="6"/>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
        <p:nvSpPr>
          <p:cNvPr name="TextBox 7" id="7"/>
          <p:cNvSpPr txBox="true"/>
          <p:nvPr/>
        </p:nvSpPr>
        <p:spPr>
          <a:xfrm rot="0">
            <a:off x="7058816" y="4538783"/>
            <a:ext cx="10004200" cy="2807335"/>
          </a:xfrm>
          <a:prstGeom prst="rect">
            <a:avLst/>
          </a:prstGeom>
        </p:spPr>
        <p:txBody>
          <a:bodyPr anchor="t" rtlCol="false" tIns="0" lIns="0" bIns="0" rIns="0">
            <a:spAutoFit/>
          </a:bodyPr>
          <a:lstStyle/>
          <a:p>
            <a:pPr algn="l">
              <a:lnSpc>
                <a:spcPts val="6439"/>
              </a:lnSpc>
              <a:spcBef>
                <a:spcPct val="0"/>
              </a:spcBef>
            </a:pPr>
            <a:r>
              <a:rPr lang="en-US" b="true" sz="4599">
                <a:solidFill>
                  <a:srgbClr val="FFFFFF"/>
                </a:solidFill>
                <a:latin typeface="Pattanakarn Expanded Bold"/>
                <a:ea typeface="Pattanakarn Expanded Bold"/>
                <a:cs typeface="Pattanakarn Expanded Bold"/>
                <a:sym typeface="Pattanakarn Expanded Bold"/>
              </a:rPr>
              <a:t>SISTEM PENDETEKSI MASS SHOOTING BERBASIS SUARA</a:t>
            </a:r>
          </a:p>
        </p:txBody>
      </p:sp>
      <p:sp>
        <p:nvSpPr>
          <p:cNvPr name="TextBox 8" id="8"/>
          <p:cNvSpPr txBox="true"/>
          <p:nvPr/>
        </p:nvSpPr>
        <p:spPr>
          <a:xfrm rot="0">
            <a:off x="7058816" y="2202111"/>
            <a:ext cx="10423336" cy="2499998"/>
          </a:xfrm>
          <a:prstGeom prst="rect">
            <a:avLst/>
          </a:prstGeom>
        </p:spPr>
        <p:txBody>
          <a:bodyPr anchor="t" rtlCol="false" tIns="0" lIns="0" bIns="0" rIns="0">
            <a:spAutoFit/>
          </a:bodyPr>
          <a:lstStyle/>
          <a:p>
            <a:pPr algn="l">
              <a:lnSpc>
                <a:spcPts val="14454"/>
              </a:lnSpc>
              <a:spcBef>
                <a:spcPct val="0"/>
              </a:spcBef>
            </a:pPr>
            <a:r>
              <a:rPr lang="en-US" b="true" sz="10324">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MSD</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2519893" y="2682846"/>
            <a:ext cx="5039787" cy="5039787"/>
          </a:xfrm>
          <a:custGeom>
            <a:avLst/>
            <a:gdLst/>
            <a:ahLst/>
            <a:cxnLst/>
            <a:rect r="r" b="b" t="t" l="l"/>
            <a:pathLst>
              <a:path h="5039787" w="5039787">
                <a:moveTo>
                  <a:pt x="0" y="0"/>
                </a:moveTo>
                <a:lnTo>
                  <a:pt x="5039786" y="0"/>
                </a:lnTo>
                <a:lnTo>
                  <a:pt x="5039786" y="5039787"/>
                </a:lnTo>
                <a:lnTo>
                  <a:pt x="0" y="5039787"/>
                </a:lnTo>
                <a:lnTo>
                  <a:pt x="0" y="0"/>
                </a:lnTo>
                <a:close/>
              </a:path>
            </a:pathLst>
          </a:custGeom>
          <a:blipFill>
            <a:blip r:embed="rId2"/>
            <a:stretch>
              <a:fillRect l="0" t="0" r="0" b="0"/>
            </a:stretch>
          </a:blipFill>
        </p:spPr>
      </p:sp>
      <p:sp>
        <p:nvSpPr>
          <p:cNvPr name="TextBox 3" id="3"/>
          <p:cNvSpPr txBox="true"/>
          <p:nvPr/>
        </p:nvSpPr>
        <p:spPr>
          <a:xfrm rot="0">
            <a:off x="5284961" y="106865"/>
            <a:ext cx="6700858"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Tujuan</a:t>
            </a:r>
          </a:p>
        </p:txBody>
      </p:sp>
      <p:sp>
        <p:nvSpPr>
          <p:cNvPr name="TextBox 4" id="4"/>
          <p:cNvSpPr txBox="true"/>
          <p:nvPr/>
        </p:nvSpPr>
        <p:spPr>
          <a:xfrm rot="0">
            <a:off x="3515534" y="3196006"/>
            <a:ext cx="12727407" cy="3880116"/>
          </a:xfrm>
          <a:prstGeom prst="rect">
            <a:avLst/>
          </a:prstGeom>
        </p:spPr>
        <p:txBody>
          <a:bodyPr anchor="t" rtlCol="false" tIns="0" lIns="0" bIns="0" rIns="0">
            <a:spAutoFit/>
          </a:bodyPr>
          <a:lstStyle/>
          <a:p>
            <a:pPr algn="just">
              <a:lnSpc>
                <a:spcPts val="6110"/>
              </a:lnSpc>
              <a:spcBef>
                <a:spcPct val="0"/>
              </a:spcBef>
            </a:pPr>
            <a:r>
              <a:rPr lang="en-US" b="true" sz="4364" spc="-218">
                <a:solidFill>
                  <a:srgbClr val="FFFFFF"/>
                </a:solidFill>
                <a:latin typeface="Telegraf Medium"/>
                <a:ea typeface="Telegraf Medium"/>
                <a:cs typeface="Telegraf Medium"/>
                <a:sym typeface="Telegraf Medium"/>
              </a:rPr>
              <a:t>MSD (Mass Shooting Detector) adalah sistem pendeteksi penembakan masal berbasis suara. MSD hadir untuk mendeteksi adanya mass shooting lebih dini dan memberikan notifikasi secara langsung kepada pihak terkait</a:t>
            </a:r>
          </a:p>
        </p:txBody>
      </p:sp>
      <p:sp>
        <p:nvSpPr>
          <p:cNvPr name="Freeform 5" id="5"/>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6" id="6"/>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7" id="7"/>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8" id="8"/>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2816564" y="2549246"/>
            <a:ext cx="2355490" cy="2355490"/>
          </a:xfrm>
          <a:custGeom>
            <a:avLst/>
            <a:gdLst/>
            <a:ahLst/>
            <a:cxnLst/>
            <a:rect r="r" b="b" t="t" l="l"/>
            <a:pathLst>
              <a:path h="2355490" w="2355490">
                <a:moveTo>
                  <a:pt x="0" y="0"/>
                </a:moveTo>
                <a:lnTo>
                  <a:pt x="2355491" y="0"/>
                </a:lnTo>
                <a:lnTo>
                  <a:pt x="2355491" y="2355490"/>
                </a:lnTo>
                <a:lnTo>
                  <a:pt x="0" y="2355490"/>
                </a:lnTo>
                <a:lnTo>
                  <a:pt x="0" y="0"/>
                </a:lnTo>
                <a:close/>
              </a:path>
            </a:pathLst>
          </a:custGeom>
          <a:blipFill>
            <a:blip r:embed="rId2"/>
            <a:stretch>
              <a:fillRect l="0" t="0" r="0" b="0"/>
            </a:stretch>
          </a:blipFill>
        </p:spPr>
      </p:sp>
      <p:sp>
        <p:nvSpPr>
          <p:cNvPr name="Freeform 3" id="3"/>
          <p:cNvSpPr/>
          <p:nvPr/>
        </p:nvSpPr>
        <p:spPr>
          <a:xfrm flipH="false" flipV="false" rot="0">
            <a:off x="13010045" y="2667869"/>
            <a:ext cx="2461391" cy="2461391"/>
          </a:xfrm>
          <a:custGeom>
            <a:avLst/>
            <a:gdLst/>
            <a:ahLst/>
            <a:cxnLst/>
            <a:rect r="r" b="b" t="t" l="l"/>
            <a:pathLst>
              <a:path h="2461391" w="2461391">
                <a:moveTo>
                  <a:pt x="0" y="0"/>
                </a:moveTo>
                <a:lnTo>
                  <a:pt x="2461391" y="0"/>
                </a:lnTo>
                <a:lnTo>
                  <a:pt x="2461391" y="2461391"/>
                </a:lnTo>
                <a:lnTo>
                  <a:pt x="0" y="2461391"/>
                </a:lnTo>
                <a:lnTo>
                  <a:pt x="0" y="0"/>
                </a:lnTo>
                <a:close/>
              </a:path>
            </a:pathLst>
          </a:custGeom>
          <a:blipFill>
            <a:blip r:embed="rId3"/>
            <a:stretch>
              <a:fillRect l="-141133" t="-38701" r="-145725" b="-108888"/>
            </a:stretch>
          </a:blipFill>
        </p:spPr>
      </p:sp>
      <p:sp>
        <p:nvSpPr>
          <p:cNvPr name="Freeform 4" id="4"/>
          <p:cNvSpPr/>
          <p:nvPr/>
        </p:nvSpPr>
        <p:spPr>
          <a:xfrm flipH="false" flipV="false" rot="0">
            <a:off x="10973744" y="5459808"/>
            <a:ext cx="2277946" cy="2277946"/>
          </a:xfrm>
          <a:custGeom>
            <a:avLst/>
            <a:gdLst/>
            <a:ahLst/>
            <a:cxnLst/>
            <a:rect r="r" b="b" t="t" l="l"/>
            <a:pathLst>
              <a:path h="2277946" w="2277946">
                <a:moveTo>
                  <a:pt x="0" y="0"/>
                </a:moveTo>
                <a:lnTo>
                  <a:pt x="2277946" y="0"/>
                </a:lnTo>
                <a:lnTo>
                  <a:pt x="2277946" y="2277946"/>
                </a:lnTo>
                <a:lnTo>
                  <a:pt x="0" y="2277946"/>
                </a:lnTo>
                <a:lnTo>
                  <a:pt x="0" y="0"/>
                </a:lnTo>
                <a:close/>
              </a:path>
            </a:pathLst>
          </a:custGeom>
          <a:blipFill>
            <a:blip r:embed="rId4"/>
            <a:stretch>
              <a:fillRect l="0" t="0" r="-244827" b="0"/>
            </a:stretch>
          </a:blipFill>
        </p:spPr>
      </p:sp>
      <p:sp>
        <p:nvSpPr>
          <p:cNvPr name="Freeform 5" id="5"/>
          <p:cNvSpPr/>
          <p:nvPr/>
        </p:nvSpPr>
        <p:spPr>
          <a:xfrm flipH="false" flipV="false" rot="0">
            <a:off x="6474434" y="2550928"/>
            <a:ext cx="5230685" cy="2353808"/>
          </a:xfrm>
          <a:custGeom>
            <a:avLst/>
            <a:gdLst/>
            <a:ahLst/>
            <a:cxnLst/>
            <a:rect r="r" b="b" t="t" l="l"/>
            <a:pathLst>
              <a:path h="2353808" w="5230685">
                <a:moveTo>
                  <a:pt x="0" y="0"/>
                </a:moveTo>
                <a:lnTo>
                  <a:pt x="5230686" y="0"/>
                </a:lnTo>
                <a:lnTo>
                  <a:pt x="5230686" y="2353808"/>
                </a:lnTo>
                <a:lnTo>
                  <a:pt x="0" y="2353808"/>
                </a:lnTo>
                <a:lnTo>
                  <a:pt x="0" y="0"/>
                </a:lnTo>
                <a:close/>
              </a:path>
            </a:pathLst>
          </a:custGeom>
          <a:blipFill>
            <a:blip r:embed="rId5"/>
            <a:stretch>
              <a:fillRect l="0" t="0" r="0" b="0"/>
            </a:stretch>
          </a:blipFill>
        </p:spPr>
      </p:sp>
      <p:sp>
        <p:nvSpPr>
          <p:cNvPr name="Freeform 6" id="6"/>
          <p:cNvSpPr/>
          <p:nvPr/>
        </p:nvSpPr>
        <p:spPr>
          <a:xfrm flipH="false" flipV="false" rot="0">
            <a:off x="3083309" y="5459808"/>
            <a:ext cx="6782251" cy="2260750"/>
          </a:xfrm>
          <a:custGeom>
            <a:avLst/>
            <a:gdLst/>
            <a:ahLst/>
            <a:cxnLst/>
            <a:rect r="r" b="b" t="t" l="l"/>
            <a:pathLst>
              <a:path h="2260750" w="6782251">
                <a:moveTo>
                  <a:pt x="0" y="0"/>
                </a:moveTo>
                <a:lnTo>
                  <a:pt x="6782251" y="0"/>
                </a:lnTo>
                <a:lnTo>
                  <a:pt x="6782251" y="2260750"/>
                </a:lnTo>
                <a:lnTo>
                  <a:pt x="0" y="2260750"/>
                </a:lnTo>
                <a:lnTo>
                  <a:pt x="0" y="0"/>
                </a:lnTo>
                <a:close/>
              </a:path>
            </a:pathLst>
          </a:custGeom>
          <a:blipFill>
            <a:blip r:embed="rId6"/>
            <a:stretch>
              <a:fillRect l="0" t="0" r="0" b="0"/>
            </a:stretch>
          </a:blipFill>
        </p:spPr>
      </p:sp>
      <p:sp>
        <p:nvSpPr>
          <p:cNvPr name="TextBox 7" id="7"/>
          <p:cNvSpPr txBox="true"/>
          <p:nvPr/>
        </p:nvSpPr>
        <p:spPr>
          <a:xfrm rot="0">
            <a:off x="7082343" y="212883"/>
            <a:ext cx="4123314" cy="1212534"/>
          </a:xfrm>
          <a:prstGeom prst="rect">
            <a:avLst/>
          </a:prstGeom>
        </p:spPr>
        <p:txBody>
          <a:bodyPr anchor="t" rtlCol="false" tIns="0" lIns="0" bIns="0" rIns="0">
            <a:spAutoFit/>
          </a:bodyPr>
          <a:lstStyle/>
          <a:p>
            <a:pPr algn="ctr">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Tech Stack</a:t>
            </a:r>
          </a:p>
        </p:txBody>
      </p:sp>
      <p:sp>
        <p:nvSpPr>
          <p:cNvPr name="Freeform 8" id="8"/>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7"/>
            <a:stretch>
              <a:fillRect l="0" t="0" r="0" b="0"/>
            </a:stretch>
          </a:blipFill>
        </p:spPr>
      </p:sp>
      <p:sp>
        <p:nvSpPr>
          <p:cNvPr name="Freeform 9" id="9"/>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8"/>
            <a:stretch>
              <a:fillRect l="0" t="0" r="0" b="0"/>
            </a:stretch>
          </a:blipFill>
        </p:spPr>
      </p:sp>
      <p:sp>
        <p:nvSpPr>
          <p:cNvPr name="Freeform 10" id="10"/>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9"/>
            <a:stretch>
              <a:fillRect l="0" t="0" r="0" b="0"/>
            </a:stretch>
          </a:blipFill>
        </p:spPr>
      </p:sp>
      <p:sp>
        <p:nvSpPr>
          <p:cNvPr name="TextBox 11" id="11"/>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3493371" y="2621907"/>
            <a:ext cx="11301259" cy="5043187"/>
          </a:xfrm>
          <a:custGeom>
            <a:avLst/>
            <a:gdLst/>
            <a:ahLst/>
            <a:cxnLst/>
            <a:rect r="r" b="b" t="t" l="l"/>
            <a:pathLst>
              <a:path h="5043187" w="11301259">
                <a:moveTo>
                  <a:pt x="0" y="0"/>
                </a:moveTo>
                <a:lnTo>
                  <a:pt x="11301258" y="0"/>
                </a:lnTo>
                <a:lnTo>
                  <a:pt x="11301258" y="5043186"/>
                </a:lnTo>
                <a:lnTo>
                  <a:pt x="0" y="5043186"/>
                </a:lnTo>
                <a:lnTo>
                  <a:pt x="0" y="0"/>
                </a:lnTo>
                <a:close/>
              </a:path>
            </a:pathLst>
          </a:custGeom>
          <a:blipFill>
            <a:blip r:embed="rId2"/>
            <a:stretch>
              <a:fillRect l="0" t="0" r="0" b="0"/>
            </a:stretch>
          </a:blipFill>
        </p:spPr>
      </p:sp>
      <p:sp>
        <p:nvSpPr>
          <p:cNvPr name="TextBox 3" id="3"/>
          <p:cNvSpPr txBox="true"/>
          <p:nvPr/>
        </p:nvSpPr>
        <p:spPr>
          <a:xfrm rot="0">
            <a:off x="5184169" y="215900"/>
            <a:ext cx="7919663"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System Development</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3535395" y="2255757"/>
            <a:ext cx="11217209" cy="6618153"/>
          </a:xfrm>
          <a:custGeom>
            <a:avLst/>
            <a:gdLst/>
            <a:ahLst/>
            <a:cxnLst/>
            <a:rect r="r" b="b" t="t" l="l"/>
            <a:pathLst>
              <a:path h="6618153" w="11217209">
                <a:moveTo>
                  <a:pt x="0" y="0"/>
                </a:moveTo>
                <a:lnTo>
                  <a:pt x="11217210" y="0"/>
                </a:lnTo>
                <a:lnTo>
                  <a:pt x="11217210" y="6618153"/>
                </a:lnTo>
                <a:lnTo>
                  <a:pt x="0" y="6618153"/>
                </a:lnTo>
                <a:lnTo>
                  <a:pt x="0" y="0"/>
                </a:lnTo>
                <a:close/>
              </a:path>
            </a:pathLst>
          </a:custGeom>
          <a:blipFill>
            <a:blip r:embed="rId2"/>
            <a:stretch>
              <a:fillRect l="0" t="0" r="0" b="0"/>
            </a:stretch>
          </a:blipFill>
        </p:spPr>
      </p:sp>
      <p:sp>
        <p:nvSpPr>
          <p:cNvPr name="TextBox 3" id="3"/>
          <p:cNvSpPr txBox="true"/>
          <p:nvPr/>
        </p:nvSpPr>
        <p:spPr>
          <a:xfrm rot="0">
            <a:off x="5469504" y="215900"/>
            <a:ext cx="7348991"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Data Preprocessing</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2871699" y="2424200"/>
            <a:ext cx="12544602" cy="6303662"/>
          </a:xfrm>
          <a:custGeom>
            <a:avLst/>
            <a:gdLst/>
            <a:ahLst/>
            <a:cxnLst/>
            <a:rect r="r" b="b" t="t" l="l"/>
            <a:pathLst>
              <a:path h="6303662" w="12544602">
                <a:moveTo>
                  <a:pt x="0" y="0"/>
                </a:moveTo>
                <a:lnTo>
                  <a:pt x="12544602" y="0"/>
                </a:lnTo>
                <a:lnTo>
                  <a:pt x="12544602" y="6303662"/>
                </a:lnTo>
                <a:lnTo>
                  <a:pt x="0" y="6303662"/>
                </a:lnTo>
                <a:lnTo>
                  <a:pt x="0" y="0"/>
                </a:lnTo>
                <a:close/>
              </a:path>
            </a:pathLst>
          </a:custGeom>
          <a:blipFill>
            <a:blip r:embed="rId2"/>
            <a:stretch>
              <a:fillRect l="0" t="0" r="0" b="0"/>
            </a:stretch>
          </a:blipFill>
        </p:spPr>
      </p:sp>
      <p:sp>
        <p:nvSpPr>
          <p:cNvPr name="TextBox 3" id="3"/>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Model Architecture</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789786" y="2627168"/>
            <a:ext cx="8866845" cy="5561054"/>
            <a:chOff x="0" y="0"/>
            <a:chExt cx="2335301" cy="1464640"/>
          </a:xfrm>
        </p:grpSpPr>
        <p:sp>
          <p:nvSpPr>
            <p:cNvPr name="Freeform 3" id="3"/>
            <p:cNvSpPr/>
            <p:nvPr/>
          </p:nvSpPr>
          <p:spPr>
            <a:xfrm flipH="false" flipV="false" rot="0">
              <a:off x="0" y="0"/>
              <a:ext cx="2335301" cy="1464640"/>
            </a:xfrm>
            <a:custGeom>
              <a:avLst/>
              <a:gdLst/>
              <a:ahLst/>
              <a:cxnLst/>
              <a:rect r="r" b="b" t="t" l="l"/>
              <a:pathLst>
                <a:path h="1464640" w="2335301">
                  <a:moveTo>
                    <a:pt x="43657" y="0"/>
                  </a:moveTo>
                  <a:lnTo>
                    <a:pt x="2291644" y="0"/>
                  </a:lnTo>
                  <a:cubicBezTo>
                    <a:pt x="2315755" y="0"/>
                    <a:pt x="2335301" y="19546"/>
                    <a:pt x="2335301" y="43657"/>
                  </a:cubicBezTo>
                  <a:lnTo>
                    <a:pt x="2335301" y="1420983"/>
                  </a:lnTo>
                  <a:cubicBezTo>
                    <a:pt x="2335301" y="1445094"/>
                    <a:pt x="2315755" y="1464640"/>
                    <a:pt x="2291644" y="1464640"/>
                  </a:cubicBezTo>
                  <a:lnTo>
                    <a:pt x="43657" y="1464640"/>
                  </a:lnTo>
                  <a:cubicBezTo>
                    <a:pt x="19546" y="1464640"/>
                    <a:pt x="0" y="1445094"/>
                    <a:pt x="0" y="1420983"/>
                  </a:cubicBezTo>
                  <a:lnTo>
                    <a:pt x="0" y="43657"/>
                  </a:lnTo>
                  <a:cubicBezTo>
                    <a:pt x="0" y="19546"/>
                    <a:pt x="19546" y="0"/>
                    <a:pt x="43657" y="0"/>
                  </a:cubicBezTo>
                  <a:close/>
                </a:path>
              </a:pathLst>
            </a:custGeom>
            <a:solidFill>
              <a:srgbClr val="000000">
                <a:alpha val="0"/>
              </a:srgbClr>
            </a:solidFill>
            <a:ln w="9525" cap="rnd">
              <a:solidFill>
                <a:srgbClr val="FFFFFF"/>
              </a:solidFill>
              <a:prstDash val="solid"/>
              <a:round/>
            </a:ln>
          </p:spPr>
        </p:sp>
        <p:sp>
          <p:nvSpPr>
            <p:cNvPr name="TextBox 4" id="4"/>
            <p:cNvSpPr txBox="true"/>
            <p:nvPr/>
          </p:nvSpPr>
          <p:spPr>
            <a:xfrm>
              <a:off x="0" y="-57150"/>
              <a:ext cx="2335301" cy="1521790"/>
            </a:xfrm>
            <a:prstGeom prst="rect">
              <a:avLst/>
            </a:prstGeom>
          </p:spPr>
          <p:txBody>
            <a:bodyPr anchor="ctr" rtlCol="false" tIns="50800" lIns="50800" bIns="50800" rIns="50800"/>
            <a:lstStyle/>
            <a:p>
              <a:pPr algn="ctr">
                <a:lnSpc>
                  <a:spcPts val="1960"/>
                </a:lnSpc>
              </a:pPr>
            </a:p>
          </p:txBody>
        </p:sp>
      </p:grpSp>
      <p:sp>
        <p:nvSpPr>
          <p:cNvPr name="Freeform 5" id="5"/>
          <p:cNvSpPr/>
          <p:nvPr/>
        </p:nvSpPr>
        <p:spPr>
          <a:xfrm flipH="false" flipV="false" rot="0">
            <a:off x="1981146" y="2885781"/>
            <a:ext cx="8484125" cy="5043827"/>
          </a:xfrm>
          <a:custGeom>
            <a:avLst/>
            <a:gdLst/>
            <a:ahLst/>
            <a:cxnLst/>
            <a:rect r="r" b="b" t="t" l="l"/>
            <a:pathLst>
              <a:path h="5043827" w="8484125">
                <a:moveTo>
                  <a:pt x="0" y="0"/>
                </a:moveTo>
                <a:lnTo>
                  <a:pt x="8484125" y="0"/>
                </a:lnTo>
                <a:lnTo>
                  <a:pt x="8484125" y="5043827"/>
                </a:lnTo>
                <a:lnTo>
                  <a:pt x="0" y="5043827"/>
                </a:lnTo>
                <a:lnTo>
                  <a:pt x="0" y="0"/>
                </a:lnTo>
                <a:close/>
              </a:path>
            </a:pathLst>
          </a:custGeom>
          <a:blipFill>
            <a:blip r:embed="rId2"/>
            <a:stretch>
              <a:fillRect l="0" t="0" r="0" b="0"/>
            </a:stretch>
          </a:blipFill>
        </p:spPr>
      </p:sp>
      <p:sp>
        <p:nvSpPr>
          <p:cNvPr name="TextBox 6" id="6"/>
          <p:cNvSpPr txBox="true"/>
          <p:nvPr/>
        </p:nvSpPr>
        <p:spPr>
          <a:xfrm rot="0">
            <a:off x="11224769" y="4482792"/>
            <a:ext cx="5273445" cy="1595218"/>
          </a:xfrm>
          <a:prstGeom prst="rect">
            <a:avLst/>
          </a:prstGeom>
        </p:spPr>
        <p:txBody>
          <a:bodyPr anchor="t" rtlCol="false" tIns="0" lIns="0" bIns="0" rIns="0">
            <a:spAutoFit/>
          </a:bodyPr>
          <a:lstStyle/>
          <a:p>
            <a:pPr algn="l">
              <a:lnSpc>
                <a:spcPts val="4062"/>
              </a:lnSpc>
            </a:pPr>
            <a:r>
              <a:rPr lang="en-US" sz="3385" spc="-169">
                <a:solidFill>
                  <a:srgbClr val="FFFFFF"/>
                </a:solidFill>
                <a:latin typeface="Telegraf"/>
                <a:ea typeface="Telegraf"/>
                <a:cs typeface="Telegraf"/>
                <a:sym typeface="Telegraf"/>
              </a:rPr>
              <a:t>Convolution layer bertugas untuk mengekstrak fitur spasial dari gambar</a:t>
            </a:r>
          </a:p>
        </p:txBody>
      </p:sp>
      <p:sp>
        <p:nvSpPr>
          <p:cNvPr name="TextBox 7" id="7"/>
          <p:cNvSpPr txBox="true"/>
          <p:nvPr/>
        </p:nvSpPr>
        <p:spPr>
          <a:xfrm rot="0">
            <a:off x="11224769" y="3305511"/>
            <a:ext cx="5063982" cy="806450"/>
          </a:xfrm>
          <a:prstGeom prst="rect">
            <a:avLst/>
          </a:prstGeom>
        </p:spPr>
        <p:txBody>
          <a:bodyPr anchor="t" rtlCol="false" tIns="0" lIns="0" bIns="0" rIns="0">
            <a:spAutoFit/>
          </a:bodyPr>
          <a:lstStyle/>
          <a:p>
            <a:pPr algn="l">
              <a:lnSpc>
                <a:spcPts val="3999"/>
              </a:lnSpc>
            </a:pPr>
            <a:r>
              <a:rPr lang="en-US" sz="3999" b="true">
                <a:solidFill>
                  <a:srgbClr val="FFFFFF"/>
                </a:solidFill>
                <a:latin typeface="Pattanakarn Expanded Bold"/>
                <a:ea typeface="Pattanakarn Expanded Bold"/>
                <a:cs typeface="Pattanakarn Expanded Bold"/>
                <a:sym typeface="Pattanakarn Expanded Bold"/>
              </a:rPr>
              <a:t>CONVOLUTION</a:t>
            </a:r>
          </a:p>
        </p:txBody>
      </p:sp>
      <p:sp>
        <p:nvSpPr>
          <p:cNvPr name="TextBox 8" id="8"/>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Model Architecture</a:t>
            </a:r>
          </a:p>
        </p:txBody>
      </p:sp>
      <p:sp>
        <p:nvSpPr>
          <p:cNvPr name="Freeform 9" id="9"/>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10" id="10"/>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11" id="11"/>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12" id="12"/>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6789749" y="2208305"/>
            <a:ext cx="9933645" cy="4428940"/>
            <a:chOff x="0" y="0"/>
            <a:chExt cx="2616269" cy="1166470"/>
          </a:xfrm>
        </p:grpSpPr>
        <p:sp>
          <p:nvSpPr>
            <p:cNvPr name="Freeform 3" id="3"/>
            <p:cNvSpPr/>
            <p:nvPr/>
          </p:nvSpPr>
          <p:spPr>
            <a:xfrm flipH="false" flipV="false" rot="0">
              <a:off x="0" y="0"/>
              <a:ext cx="2616269" cy="1166470"/>
            </a:xfrm>
            <a:custGeom>
              <a:avLst/>
              <a:gdLst/>
              <a:ahLst/>
              <a:cxnLst/>
              <a:rect r="r" b="b" t="t" l="l"/>
              <a:pathLst>
                <a:path h="1166470" w="2616269">
                  <a:moveTo>
                    <a:pt x="38968" y="0"/>
                  </a:moveTo>
                  <a:lnTo>
                    <a:pt x="2577300" y="0"/>
                  </a:lnTo>
                  <a:cubicBezTo>
                    <a:pt x="2598822" y="0"/>
                    <a:pt x="2616269" y="17447"/>
                    <a:pt x="2616269" y="38968"/>
                  </a:cubicBezTo>
                  <a:lnTo>
                    <a:pt x="2616269" y="1127502"/>
                  </a:lnTo>
                  <a:cubicBezTo>
                    <a:pt x="2616269" y="1149023"/>
                    <a:pt x="2598822" y="1166470"/>
                    <a:pt x="2577300" y="1166470"/>
                  </a:cubicBezTo>
                  <a:lnTo>
                    <a:pt x="38968" y="1166470"/>
                  </a:lnTo>
                  <a:cubicBezTo>
                    <a:pt x="17447" y="1166470"/>
                    <a:pt x="0" y="1149023"/>
                    <a:pt x="0" y="1127502"/>
                  </a:cubicBezTo>
                  <a:lnTo>
                    <a:pt x="0" y="38968"/>
                  </a:lnTo>
                  <a:cubicBezTo>
                    <a:pt x="0" y="17447"/>
                    <a:pt x="17447" y="0"/>
                    <a:pt x="38968" y="0"/>
                  </a:cubicBezTo>
                  <a:close/>
                </a:path>
              </a:pathLst>
            </a:custGeom>
            <a:solidFill>
              <a:srgbClr val="000000">
                <a:alpha val="0"/>
              </a:srgbClr>
            </a:solidFill>
            <a:ln w="9525" cap="rnd">
              <a:solidFill>
                <a:srgbClr val="FFFFFF"/>
              </a:solidFill>
              <a:prstDash val="solid"/>
              <a:round/>
            </a:ln>
          </p:spPr>
        </p:sp>
        <p:sp>
          <p:nvSpPr>
            <p:cNvPr name="TextBox 4" id="4"/>
            <p:cNvSpPr txBox="true"/>
            <p:nvPr/>
          </p:nvSpPr>
          <p:spPr>
            <a:xfrm>
              <a:off x="0" y="-57150"/>
              <a:ext cx="2616269" cy="1223620"/>
            </a:xfrm>
            <a:prstGeom prst="rect">
              <a:avLst/>
            </a:prstGeom>
          </p:spPr>
          <p:txBody>
            <a:bodyPr anchor="ctr" rtlCol="false" tIns="50800" lIns="50800" bIns="50800" rIns="50800"/>
            <a:lstStyle/>
            <a:p>
              <a:pPr algn="ctr">
                <a:lnSpc>
                  <a:spcPts val="1960"/>
                </a:lnSpc>
              </a:pPr>
            </a:p>
          </p:txBody>
        </p:sp>
      </p:grpSp>
      <p:sp>
        <p:nvSpPr>
          <p:cNvPr name="Freeform 5" id="5"/>
          <p:cNvSpPr/>
          <p:nvPr/>
        </p:nvSpPr>
        <p:spPr>
          <a:xfrm flipH="false" flipV="false" rot="0">
            <a:off x="6968838" y="2428931"/>
            <a:ext cx="9556351" cy="3981813"/>
          </a:xfrm>
          <a:custGeom>
            <a:avLst/>
            <a:gdLst/>
            <a:ahLst/>
            <a:cxnLst/>
            <a:rect r="r" b="b" t="t" l="l"/>
            <a:pathLst>
              <a:path h="3981813" w="9556351">
                <a:moveTo>
                  <a:pt x="0" y="0"/>
                </a:moveTo>
                <a:lnTo>
                  <a:pt x="9556351" y="0"/>
                </a:lnTo>
                <a:lnTo>
                  <a:pt x="9556351" y="3981813"/>
                </a:lnTo>
                <a:lnTo>
                  <a:pt x="0" y="3981813"/>
                </a:lnTo>
                <a:lnTo>
                  <a:pt x="0" y="0"/>
                </a:lnTo>
                <a:close/>
              </a:path>
            </a:pathLst>
          </a:custGeom>
          <a:blipFill>
            <a:blip r:embed="rId2"/>
            <a:stretch>
              <a:fillRect l="0" t="0" r="0" b="0"/>
            </a:stretch>
          </a:blipFill>
        </p:spPr>
      </p:sp>
      <p:sp>
        <p:nvSpPr>
          <p:cNvPr name="TextBox 6" id="6"/>
          <p:cNvSpPr txBox="true"/>
          <p:nvPr/>
        </p:nvSpPr>
        <p:spPr>
          <a:xfrm rot="0">
            <a:off x="1138099" y="7401386"/>
            <a:ext cx="16011801" cy="1595218"/>
          </a:xfrm>
          <a:prstGeom prst="rect">
            <a:avLst/>
          </a:prstGeom>
        </p:spPr>
        <p:txBody>
          <a:bodyPr anchor="t" rtlCol="false" tIns="0" lIns="0" bIns="0" rIns="0">
            <a:spAutoFit/>
          </a:bodyPr>
          <a:lstStyle/>
          <a:p>
            <a:pPr algn="l">
              <a:lnSpc>
                <a:spcPts val="4062"/>
              </a:lnSpc>
            </a:pPr>
            <a:r>
              <a:rPr lang="en-US" sz="3385" spc="-169">
                <a:solidFill>
                  <a:srgbClr val="FFFFFF"/>
                </a:solidFill>
                <a:latin typeface="Telegraf"/>
                <a:ea typeface="Telegraf"/>
                <a:cs typeface="Telegraf"/>
                <a:sym typeface="Telegraf"/>
              </a:rPr>
              <a:t>Max Pooling layer berfungsi mengecilkan resolusi fitur dengan mengambil nilai maksimum di tiap jendela pooling, sehingga ukuran spatial berkurang, jumlah parameter lebih sedikit, dan model tetap menonjolkan aktivasi paling kuat sebelum klasifikasi.</a:t>
            </a:r>
          </a:p>
        </p:txBody>
      </p:sp>
      <p:sp>
        <p:nvSpPr>
          <p:cNvPr name="TextBox 7" id="7"/>
          <p:cNvSpPr txBox="true"/>
          <p:nvPr/>
        </p:nvSpPr>
        <p:spPr>
          <a:xfrm rot="0">
            <a:off x="1138099" y="6465795"/>
            <a:ext cx="13673899" cy="806450"/>
          </a:xfrm>
          <a:prstGeom prst="rect">
            <a:avLst/>
          </a:prstGeom>
        </p:spPr>
        <p:txBody>
          <a:bodyPr anchor="t" rtlCol="false" tIns="0" lIns="0" bIns="0" rIns="0">
            <a:spAutoFit/>
          </a:bodyPr>
          <a:lstStyle/>
          <a:p>
            <a:pPr algn="l">
              <a:lnSpc>
                <a:spcPts val="3999"/>
              </a:lnSpc>
            </a:pPr>
            <a:r>
              <a:rPr lang="en-US" sz="3999" b="true">
                <a:solidFill>
                  <a:srgbClr val="FFFFFF"/>
                </a:solidFill>
                <a:latin typeface="Pattanakarn Expanded Bold"/>
                <a:ea typeface="Pattanakarn Expanded Bold"/>
                <a:cs typeface="Pattanakarn Expanded Bold"/>
                <a:sym typeface="Pattanakarn Expanded Bold"/>
              </a:rPr>
              <a:t>MAX POOLING</a:t>
            </a:r>
          </a:p>
        </p:txBody>
      </p:sp>
      <p:sp>
        <p:nvSpPr>
          <p:cNvPr name="TextBox 8" id="8"/>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Model Architecture</a:t>
            </a:r>
          </a:p>
        </p:txBody>
      </p:sp>
      <p:sp>
        <p:nvSpPr>
          <p:cNvPr name="Freeform 9" id="9"/>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10" id="10"/>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11" id="11"/>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12" id="12"/>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411420" y="2627168"/>
            <a:ext cx="8866845" cy="5561054"/>
            <a:chOff x="0" y="0"/>
            <a:chExt cx="2335301" cy="1464640"/>
          </a:xfrm>
        </p:grpSpPr>
        <p:sp>
          <p:nvSpPr>
            <p:cNvPr name="Freeform 3" id="3"/>
            <p:cNvSpPr/>
            <p:nvPr/>
          </p:nvSpPr>
          <p:spPr>
            <a:xfrm flipH="false" flipV="false" rot="0">
              <a:off x="0" y="0"/>
              <a:ext cx="2335301" cy="1464640"/>
            </a:xfrm>
            <a:custGeom>
              <a:avLst/>
              <a:gdLst/>
              <a:ahLst/>
              <a:cxnLst/>
              <a:rect r="r" b="b" t="t" l="l"/>
              <a:pathLst>
                <a:path h="1464640" w="2335301">
                  <a:moveTo>
                    <a:pt x="43657" y="0"/>
                  </a:moveTo>
                  <a:lnTo>
                    <a:pt x="2291644" y="0"/>
                  </a:lnTo>
                  <a:cubicBezTo>
                    <a:pt x="2315755" y="0"/>
                    <a:pt x="2335301" y="19546"/>
                    <a:pt x="2335301" y="43657"/>
                  </a:cubicBezTo>
                  <a:lnTo>
                    <a:pt x="2335301" y="1420983"/>
                  </a:lnTo>
                  <a:cubicBezTo>
                    <a:pt x="2335301" y="1445094"/>
                    <a:pt x="2315755" y="1464640"/>
                    <a:pt x="2291644" y="1464640"/>
                  </a:cubicBezTo>
                  <a:lnTo>
                    <a:pt x="43657" y="1464640"/>
                  </a:lnTo>
                  <a:cubicBezTo>
                    <a:pt x="19546" y="1464640"/>
                    <a:pt x="0" y="1445094"/>
                    <a:pt x="0" y="1420983"/>
                  </a:cubicBezTo>
                  <a:lnTo>
                    <a:pt x="0" y="43657"/>
                  </a:lnTo>
                  <a:cubicBezTo>
                    <a:pt x="0" y="19546"/>
                    <a:pt x="19546" y="0"/>
                    <a:pt x="43657" y="0"/>
                  </a:cubicBezTo>
                  <a:close/>
                </a:path>
              </a:pathLst>
            </a:custGeom>
            <a:solidFill>
              <a:srgbClr val="000000">
                <a:alpha val="0"/>
              </a:srgbClr>
            </a:solidFill>
            <a:ln w="9525" cap="rnd">
              <a:solidFill>
                <a:srgbClr val="FFFFFF"/>
              </a:solidFill>
              <a:prstDash val="solid"/>
              <a:round/>
            </a:ln>
          </p:spPr>
        </p:sp>
        <p:sp>
          <p:nvSpPr>
            <p:cNvPr name="TextBox 4" id="4"/>
            <p:cNvSpPr txBox="true"/>
            <p:nvPr/>
          </p:nvSpPr>
          <p:spPr>
            <a:xfrm>
              <a:off x="0" y="-57150"/>
              <a:ext cx="2335301" cy="1521790"/>
            </a:xfrm>
            <a:prstGeom prst="rect">
              <a:avLst/>
            </a:prstGeom>
          </p:spPr>
          <p:txBody>
            <a:bodyPr anchor="ctr" rtlCol="false" tIns="50800" lIns="50800" bIns="50800" rIns="50800"/>
            <a:lstStyle/>
            <a:p>
              <a:pPr algn="ctr">
                <a:lnSpc>
                  <a:spcPts val="1960"/>
                </a:lnSpc>
              </a:pPr>
            </a:p>
          </p:txBody>
        </p:sp>
      </p:grpSp>
      <p:sp>
        <p:nvSpPr>
          <p:cNvPr name="Freeform 5" id="5"/>
          <p:cNvSpPr/>
          <p:nvPr/>
        </p:nvSpPr>
        <p:spPr>
          <a:xfrm flipH="false" flipV="false" rot="0">
            <a:off x="1770307" y="2931849"/>
            <a:ext cx="8149069" cy="4951691"/>
          </a:xfrm>
          <a:custGeom>
            <a:avLst/>
            <a:gdLst/>
            <a:ahLst/>
            <a:cxnLst/>
            <a:rect r="r" b="b" t="t" l="l"/>
            <a:pathLst>
              <a:path h="4951691" w="8149069">
                <a:moveTo>
                  <a:pt x="0" y="0"/>
                </a:moveTo>
                <a:lnTo>
                  <a:pt x="8149070" y="0"/>
                </a:lnTo>
                <a:lnTo>
                  <a:pt x="8149070" y="4951691"/>
                </a:lnTo>
                <a:lnTo>
                  <a:pt x="0" y="4951691"/>
                </a:lnTo>
                <a:lnTo>
                  <a:pt x="0" y="0"/>
                </a:lnTo>
                <a:close/>
              </a:path>
            </a:pathLst>
          </a:custGeom>
          <a:blipFill>
            <a:blip r:embed="rId2"/>
            <a:stretch>
              <a:fillRect l="0" t="0" r="0" b="0"/>
            </a:stretch>
          </a:blipFill>
        </p:spPr>
      </p:sp>
      <p:sp>
        <p:nvSpPr>
          <p:cNvPr name="TextBox 6" id="6"/>
          <p:cNvSpPr txBox="true"/>
          <p:nvPr/>
        </p:nvSpPr>
        <p:spPr>
          <a:xfrm rot="0">
            <a:off x="10919969" y="3823340"/>
            <a:ext cx="6339331" cy="4690405"/>
          </a:xfrm>
          <a:prstGeom prst="rect">
            <a:avLst/>
          </a:prstGeom>
        </p:spPr>
        <p:txBody>
          <a:bodyPr anchor="t" rtlCol="false" tIns="0" lIns="0" bIns="0" rIns="0">
            <a:spAutoFit/>
          </a:bodyPr>
          <a:lstStyle/>
          <a:p>
            <a:pPr algn="l">
              <a:lnSpc>
                <a:spcPts val="4062"/>
              </a:lnSpc>
            </a:pPr>
            <a:r>
              <a:rPr lang="en-US" sz="3385" spc="-169">
                <a:solidFill>
                  <a:srgbClr val="FFFFFF"/>
                </a:solidFill>
                <a:latin typeface="Telegraf"/>
                <a:ea typeface="Telegraf"/>
                <a:cs typeface="Telegraf"/>
                <a:sym typeface="Telegraf"/>
              </a:rPr>
              <a:t>Softmax activation function berfungsi untuk mengubah logits dari neuron terakhir menjadi distribusi probabilitas yang penjumlahannya 1. Nilai tertinggi menunjukkan kelas yang diprediksi, sehingga cocok untuk klasifikasi dua kelas pada dataset ini.</a:t>
            </a:r>
          </a:p>
        </p:txBody>
      </p:sp>
      <p:sp>
        <p:nvSpPr>
          <p:cNvPr name="TextBox 7" id="7"/>
          <p:cNvSpPr txBox="true"/>
          <p:nvPr/>
        </p:nvSpPr>
        <p:spPr>
          <a:xfrm rot="0">
            <a:off x="10919969" y="2646059"/>
            <a:ext cx="6087530" cy="806450"/>
          </a:xfrm>
          <a:prstGeom prst="rect">
            <a:avLst/>
          </a:prstGeom>
        </p:spPr>
        <p:txBody>
          <a:bodyPr anchor="t" rtlCol="false" tIns="0" lIns="0" bIns="0" rIns="0">
            <a:spAutoFit/>
          </a:bodyPr>
          <a:lstStyle/>
          <a:p>
            <a:pPr algn="l">
              <a:lnSpc>
                <a:spcPts val="3999"/>
              </a:lnSpc>
            </a:pPr>
            <a:r>
              <a:rPr lang="en-US" sz="3999" b="true">
                <a:solidFill>
                  <a:srgbClr val="FFFFFF"/>
                </a:solidFill>
                <a:latin typeface="Pattanakarn Expanded Bold"/>
                <a:ea typeface="Pattanakarn Expanded Bold"/>
                <a:cs typeface="Pattanakarn Expanded Bold"/>
                <a:sym typeface="Pattanakarn Expanded Bold"/>
              </a:rPr>
              <a:t>SOFTMAX</a:t>
            </a:r>
          </a:p>
        </p:txBody>
      </p:sp>
      <p:sp>
        <p:nvSpPr>
          <p:cNvPr name="TextBox 8" id="8"/>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Model Architecture</a:t>
            </a:r>
          </a:p>
        </p:txBody>
      </p:sp>
      <p:sp>
        <p:nvSpPr>
          <p:cNvPr name="Freeform 9" id="9"/>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10" id="10"/>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11" id="11"/>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12" id="12"/>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1663313" y="2891357"/>
            <a:ext cx="14961374" cy="4504286"/>
          </a:xfrm>
          <a:custGeom>
            <a:avLst/>
            <a:gdLst/>
            <a:ahLst/>
            <a:cxnLst/>
            <a:rect r="r" b="b" t="t" l="l"/>
            <a:pathLst>
              <a:path h="4504286" w="14961374">
                <a:moveTo>
                  <a:pt x="0" y="0"/>
                </a:moveTo>
                <a:lnTo>
                  <a:pt x="14961374" y="0"/>
                </a:lnTo>
                <a:lnTo>
                  <a:pt x="14961374" y="4504286"/>
                </a:lnTo>
                <a:lnTo>
                  <a:pt x="0" y="4504286"/>
                </a:lnTo>
                <a:lnTo>
                  <a:pt x="0" y="0"/>
                </a:lnTo>
                <a:close/>
              </a:path>
            </a:pathLst>
          </a:custGeom>
          <a:blipFill>
            <a:blip r:embed="rId2"/>
            <a:stretch>
              <a:fillRect l="0" t="0" r="0" b="0"/>
            </a:stretch>
          </a:blipFill>
        </p:spPr>
      </p:sp>
      <p:sp>
        <p:nvSpPr>
          <p:cNvPr name="TextBox 3" id="3"/>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Model Architecture</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3743425" y="2231669"/>
            <a:ext cx="10801149" cy="5823661"/>
          </a:xfrm>
          <a:custGeom>
            <a:avLst/>
            <a:gdLst/>
            <a:ahLst/>
            <a:cxnLst/>
            <a:rect r="r" b="b" t="t" l="l"/>
            <a:pathLst>
              <a:path h="5823661" w="10801149">
                <a:moveTo>
                  <a:pt x="0" y="0"/>
                </a:moveTo>
                <a:lnTo>
                  <a:pt x="10801150" y="0"/>
                </a:lnTo>
                <a:lnTo>
                  <a:pt x="10801150" y="5823662"/>
                </a:lnTo>
                <a:lnTo>
                  <a:pt x="0" y="5823662"/>
                </a:lnTo>
                <a:lnTo>
                  <a:pt x="0" y="0"/>
                </a:lnTo>
                <a:close/>
              </a:path>
            </a:pathLst>
          </a:custGeom>
          <a:blipFill>
            <a:blip r:embed="rId2"/>
            <a:stretch>
              <a:fillRect l="0" t="0" r="0" b="0"/>
            </a:stretch>
          </a:blipFill>
        </p:spPr>
      </p:sp>
      <p:sp>
        <p:nvSpPr>
          <p:cNvPr name="TextBox 3" id="3"/>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Experiments</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3782048" y="3728001"/>
            <a:ext cx="10723904" cy="3161678"/>
            <a:chOff x="0" y="0"/>
            <a:chExt cx="2824403" cy="832705"/>
          </a:xfrm>
        </p:grpSpPr>
        <p:sp>
          <p:nvSpPr>
            <p:cNvPr name="Freeform 3" id="3"/>
            <p:cNvSpPr/>
            <p:nvPr/>
          </p:nvSpPr>
          <p:spPr>
            <a:xfrm flipH="false" flipV="false" rot="0">
              <a:off x="0" y="0"/>
              <a:ext cx="2824403" cy="832705"/>
            </a:xfrm>
            <a:custGeom>
              <a:avLst/>
              <a:gdLst/>
              <a:ahLst/>
              <a:cxnLst/>
              <a:rect r="r" b="b" t="t" l="l"/>
              <a:pathLst>
                <a:path h="832705" w="2824403">
                  <a:moveTo>
                    <a:pt x="28155" y="0"/>
                  </a:moveTo>
                  <a:lnTo>
                    <a:pt x="2796248" y="0"/>
                  </a:lnTo>
                  <a:cubicBezTo>
                    <a:pt x="2803715" y="0"/>
                    <a:pt x="2810876" y="2966"/>
                    <a:pt x="2816156" y="8247"/>
                  </a:cubicBezTo>
                  <a:cubicBezTo>
                    <a:pt x="2821437" y="13527"/>
                    <a:pt x="2824403" y="20688"/>
                    <a:pt x="2824403" y="28155"/>
                  </a:cubicBezTo>
                  <a:lnTo>
                    <a:pt x="2824403" y="804550"/>
                  </a:lnTo>
                  <a:cubicBezTo>
                    <a:pt x="2824403" y="812017"/>
                    <a:pt x="2821437" y="819179"/>
                    <a:pt x="2816156" y="824459"/>
                  </a:cubicBezTo>
                  <a:cubicBezTo>
                    <a:pt x="2810876" y="829739"/>
                    <a:pt x="2803715" y="832705"/>
                    <a:pt x="2796248" y="832705"/>
                  </a:cubicBezTo>
                  <a:lnTo>
                    <a:pt x="28155" y="832705"/>
                  </a:lnTo>
                  <a:cubicBezTo>
                    <a:pt x="20688" y="832705"/>
                    <a:pt x="13527" y="829739"/>
                    <a:pt x="8247" y="824459"/>
                  </a:cubicBezTo>
                  <a:cubicBezTo>
                    <a:pt x="2966" y="819179"/>
                    <a:pt x="0" y="812017"/>
                    <a:pt x="0" y="804550"/>
                  </a:cubicBezTo>
                  <a:lnTo>
                    <a:pt x="0" y="28155"/>
                  </a:lnTo>
                  <a:cubicBezTo>
                    <a:pt x="0" y="20688"/>
                    <a:pt x="2966" y="13527"/>
                    <a:pt x="8247" y="8247"/>
                  </a:cubicBezTo>
                  <a:cubicBezTo>
                    <a:pt x="13527" y="2966"/>
                    <a:pt x="20688" y="0"/>
                    <a:pt x="28155" y="0"/>
                  </a:cubicBezTo>
                  <a:close/>
                </a:path>
              </a:pathLst>
            </a:custGeom>
            <a:solidFill>
              <a:srgbClr val="202F60">
                <a:alpha val="49804"/>
              </a:srgbClr>
            </a:solidFill>
          </p:spPr>
        </p:sp>
        <p:sp>
          <p:nvSpPr>
            <p:cNvPr name="TextBox 4" id="4"/>
            <p:cNvSpPr txBox="true"/>
            <p:nvPr/>
          </p:nvSpPr>
          <p:spPr>
            <a:xfrm>
              <a:off x="0" y="-57150"/>
              <a:ext cx="2824403" cy="889855"/>
            </a:xfrm>
            <a:prstGeom prst="rect">
              <a:avLst/>
            </a:prstGeom>
          </p:spPr>
          <p:txBody>
            <a:bodyPr anchor="ctr" rtlCol="false" tIns="50800" lIns="50800" bIns="50800" rIns="50800"/>
            <a:lstStyle/>
            <a:p>
              <a:pPr algn="ctr">
                <a:lnSpc>
                  <a:spcPts val="1960"/>
                </a:lnSpc>
              </a:pPr>
            </a:p>
          </p:txBody>
        </p:sp>
      </p:grpSp>
      <p:sp>
        <p:nvSpPr>
          <p:cNvPr name="TextBox 5" id="5"/>
          <p:cNvSpPr txBox="true"/>
          <p:nvPr/>
        </p:nvSpPr>
        <p:spPr>
          <a:xfrm rot="0">
            <a:off x="5793571" y="106865"/>
            <a:ext cx="6700858"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Experiment 1</a:t>
            </a:r>
          </a:p>
        </p:txBody>
      </p:sp>
      <p:sp>
        <p:nvSpPr>
          <p:cNvPr name="TextBox 6" id="6"/>
          <p:cNvSpPr txBox="true"/>
          <p:nvPr/>
        </p:nvSpPr>
        <p:spPr>
          <a:xfrm rot="0">
            <a:off x="4262603" y="4232515"/>
            <a:ext cx="9762794" cy="2105025"/>
          </a:xfrm>
          <a:prstGeom prst="rect">
            <a:avLst/>
          </a:prstGeom>
        </p:spPr>
        <p:txBody>
          <a:bodyPr anchor="t" rtlCol="false" tIns="0" lIns="0" bIns="0" rIns="0">
            <a:spAutoFit/>
          </a:bodyPr>
          <a:lstStyle/>
          <a:p>
            <a:pPr algn="just">
              <a:lnSpc>
                <a:spcPts val="4062"/>
              </a:lnSpc>
            </a:pPr>
            <a:r>
              <a:rPr lang="en-US" sz="3385" spc="-169">
                <a:solidFill>
                  <a:srgbClr val="FFFFFF"/>
                </a:solidFill>
                <a:latin typeface="Telegraf"/>
                <a:ea typeface="Telegraf"/>
                <a:cs typeface="Telegraf"/>
                <a:sym typeface="Telegraf"/>
              </a:rPr>
              <a:t>Experiment 1 menggunakan model yang dilatih secara from scratch. Dataset yang digunakan yaitu STFT dari audio dengan format gambar. Dalam eksperimen ini, epoch yang digunakan sebesar 15</a:t>
            </a:r>
          </a:p>
        </p:txBody>
      </p:sp>
      <p:sp>
        <p:nvSpPr>
          <p:cNvPr name="Freeform 7" id="7"/>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2"/>
            <a:stretch>
              <a:fillRect l="0" t="0" r="0" b="0"/>
            </a:stretch>
          </a:blipFill>
        </p:spPr>
      </p:sp>
      <p:sp>
        <p:nvSpPr>
          <p:cNvPr name="Freeform 8" id="8"/>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3"/>
            <a:stretch>
              <a:fillRect l="0" t="0" r="0" b="0"/>
            </a:stretch>
          </a:blipFill>
        </p:spPr>
      </p:sp>
      <p:sp>
        <p:nvSpPr>
          <p:cNvPr name="Freeform 9" id="9"/>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4"/>
            <a:stretch>
              <a:fillRect l="0" t="0" r="0" b="0"/>
            </a:stretch>
          </a:blipFill>
        </p:spPr>
      </p:sp>
      <p:sp>
        <p:nvSpPr>
          <p:cNvPr name="TextBox 10" id="10"/>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3804574" y="3707349"/>
            <a:ext cx="10678851" cy="3477049"/>
            <a:chOff x="0" y="0"/>
            <a:chExt cx="2812537" cy="915766"/>
          </a:xfrm>
        </p:grpSpPr>
        <p:sp>
          <p:nvSpPr>
            <p:cNvPr name="Freeform 3" id="3"/>
            <p:cNvSpPr/>
            <p:nvPr/>
          </p:nvSpPr>
          <p:spPr>
            <a:xfrm flipH="false" flipV="false" rot="0">
              <a:off x="0" y="0"/>
              <a:ext cx="2812537" cy="915766"/>
            </a:xfrm>
            <a:custGeom>
              <a:avLst/>
              <a:gdLst/>
              <a:ahLst/>
              <a:cxnLst/>
              <a:rect r="r" b="b" t="t" l="l"/>
              <a:pathLst>
                <a:path h="915766" w="2812537">
                  <a:moveTo>
                    <a:pt x="28274" y="0"/>
                  </a:moveTo>
                  <a:lnTo>
                    <a:pt x="2784263" y="0"/>
                  </a:lnTo>
                  <a:cubicBezTo>
                    <a:pt x="2791762" y="0"/>
                    <a:pt x="2798953" y="2979"/>
                    <a:pt x="2804256" y="8281"/>
                  </a:cubicBezTo>
                  <a:cubicBezTo>
                    <a:pt x="2809558" y="13584"/>
                    <a:pt x="2812537" y="20775"/>
                    <a:pt x="2812537" y="28274"/>
                  </a:cubicBezTo>
                  <a:lnTo>
                    <a:pt x="2812537" y="887492"/>
                  </a:lnTo>
                  <a:cubicBezTo>
                    <a:pt x="2812537" y="903107"/>
                    <a:pt x="2799878" y="915766"/>
                    <a:pt x="2784263" y="915766"/>
                  </a:cubicBezTo>
                  <a:lnTo>
                    <a:pt x="28274" y="915766"/>
                  </a:lnTo>
                  <a:cubicBezTo>
                    <a:pt x="20775" y="915766"/>
                    <a:pt x="13584" y="912787"/>
                    <a:pt x="8281" y="907485"/>
                  </a:cubicBezTo>
                  <a:cubicBezTo>
                    <a:pt x="2979" y="902182"/>
                    <a:pt x="0" y="894991"/>
                    <a:pt x="0" y="887492"/>
                  </a:cubicBezTo>
                  <a:lnTo>
                    <a:pt x="0" y="28274"/>
                  </a:lnTo>
                  <a:cubicBezTo>
                    <a:pt x="0" y="20775"/>
                    <a:pt x="2979" y="13584"/>
                    <a:pt x="8281" y="8281"/>
                  </a:cubicBezTo>
                  <a:cubicBezTo>
                    <a:pt x="13584" y="2979"/>
                    <a:pt x="20775" y="0"/>
                    <a:pt x="28274" y="0"/>
                  </a:cubicBezTo>
                  <a:close/>
                </a:path>
              </a:pathLst>
            </a:custGeom>
            <a:solidFill>
              <a:srgbClr val="202F60">
                <a:alpha val="49804"/>
              </a:srgbClr>
            </a:solidFill>
          </p:spPr>
        </p:sp>
        <p:sp>
          <p:nvSpPr>
            <p:cNvPr name="TextBox 4" id="4"/>
            <p:cNvSpPr txBox="true"/>
            <p:nvPr/>
          </p:nvSpPr>
          <p:spPr>
            <a:xfrm>
              <a:off x="0" y="-57150"/>
              <a:ext cx="2812537" cy="972916"/>
            </a:xfrm>
            <a:prstGeom prst="rect">
              <a:avLst/>
            </a:prstGeom>
          </p:spPr>
          <p:txBody>
            <a:bodyPr anchor="ctr" rtlCol="false" tIns="50800" lIns="50800" bIns="50800" rIns="50800"/>
            <a:lstStyle/>
            <a:p>
              <a:pPr algn="ctr">
                <a:lnSpc>
                  <a:spcPts val="1960"/>
                </a:lnSpc>
              </a:pPr>
            </a:p>
          </p:txBody>
        </p:sp>
      </p:grpSp>
      <p:sp>
        <p:nvSpPr>
          <p:cNvPr name="TextBox 5" id="5"/>
          <p:cNvSpPr txBox="true"/>
          <p:nvPr/>
        </p:nvSpPr>
        <p:spPr>
          <a:xfrm rot="0">
            <a:off x="5793571" y="106865"/>
            <a:ext cx="6700858"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Experiment 2</a:t>
            </a:r>
          </a:p>
        </p:txBody>
      </p:sp>
      <p:sp>
        <p:nvSpPr>
          <p:cNvPr name="TextBox 6" id="6"/>
          <p:cNvSpPr txBox="true"/>
          <p:nvPr/>
        </p:nvSpPr>
        <p:spPr>
          <a:xfrm rot="0">
            <a:off x="4262603" y="4112373"/>
            <a:ext cx="9762794" cy="2619375"/>
          </a:xfrm>
          <a:prstGeom prst="rect">
            <a:avLst/>
          </a:prstGeom>
        </p:spPr>
        <p:txBody>
          <a:bodyPr anchor="t" rtlCol="false" tIns="0" lIns="0" bIns="0" rIns="0">
            <a:spAutoFit/>
          </a:bodyPr>
          <a:lstStyle/>
          <a:p>
            <a:pPr algn="just">
              <a:lnSpc>
                <a:spcPts val="4062"/>
              </a:lnSpc>
            </a:pPr>
            <a:r>
              <a:rPr lang="en-US" sz="3385" spc="-169">
                <a:solidFill>
                  <a:srgbClr val="FFFFFF"/>
                </a:solidFill>
                <a:latin typeface="Telegraf"/>
                <a:ea typeface="Telegraf"/>
                <a:cs typeface="Telegraf"/>
                <a:sym typeface="Telegraf"/>
              </a:rPr>
              <a:t>Experiment 2 menggunakan model yang dihasilkan dari eksperimen 1 (pre-trained model) dan melatihnya lagi. Dataset yang digunakan yaitu STFT dari mixed audio, yaitu audio gunshot yang dimix dengan crowd sound sebagai backsoundnya</a:t>
            </a:r>
          </a:p>
        </p:txBody>
      </p:sp>
      <p:sp>
        <p:nvSpPr>
          <p:cNvPr name="Freeform 7" id="7"/>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2"/>
            <a:stretch>
              <a:fillRect l="0" t="0" r="0" b="0"/>
            </a:stretch>
          </a:blipFill>
        </p:spPr>
      </p:sp>
      <p:sp>
        <p:nvSpPr>
          <p:cNvPr name="Freeform 8" id="8"/>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3"/>
            <a:stretch>
              <a:fillRect l="0" t="0" r="0" b="0"/>
            </a:stretch>
          </a:blipFill>
        </p:spPr>
      </p:sp>
      <p:sp>
        <p:nvSpPr>
          <p:cNvPr name="Freeform 9" id="9"/>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4"/>
            <a:stretch>
              <a:fillRect l="0" t="0" r="0" b="0"/>
            </a:stretch>
          </a:blipFill>
        </p:spPr>
      </p:sp>
      <p:sp>
        <p:nvSpPr>
          <p:cNvPr name="TextBox 10" id="10"/>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3699451" y="2926285"/>
            <a:ext cx="10889099" cy="4753550"/>
            <a:chOff x="0" y="0"/>
            <a:chExt cx="2867911" cy="1251964"/>
          </a:xfrm>
        </p:grpSpPr>
        <p:sp>
          <p:nvSpPr>
            <p:cNvPr name="Freeform 3" id="3"/>
            <p:cNvSpPr/>
            <p:nvPr/>
          </p:nvSpPr>
          <p:spPr>
            <a:xfrm flipH="false" flipV="false" rot="0">
              <a:off x="0" y="0"/>
              <a:ext cx="2867911" cy="1251964"/>
            </a:xfrm>
            <a:custGeom>
              <a:avLst/>
              <a:gdLst/>
              <a:ahLst/>
              <a:cxnLst/>
              <a:rect r="r" b="b" t="t" l="l"/>
              <a:pathLst>
                <a:path h="1251964" w="2867911">
                  <a:moveTo>
                    <a:pt x="27728" y="0"/>
                  </a:moveTo>
                  <a:lnTo>
                    <a:pt x="2840183" y="0"/>
                  </a:lnTo>
                  <a:cubicBezTo>
                    <a:pt x="2855496" y="0"/>
                    <a:pt x="2867911" y="12414"/>
                    <a:pt x="2867911" y="27728"/>
                  </a:cubicBezTo>
                  <a:lnTo>
                    <a:pt x="2867911" y="1224236"/>
                  </a:lnTo>
                  <a:cubicBezTo>
                    <a:pt x="2867911" y="1239550"/>
                    <a:pt x="2855496" y="1251964"/>
                    <a:pt x="2840183" y="1251964"/>
                  </a:cubicBezTo>
                  <a:lnTo>
                    <a:pt x="27728" y="1251964"/>
                  </a:lnTo>
                  <a:cubicBezTo>
                    <a:pt x="12414" y="1251964"/>
                    <a:pt x="0" y="1239550"/>
                    <a:pt x="0" y="1224236"/>
                  </a:cubicBezTo>
                  <a:lnTo>
                    <a:pt x="0" y="27728"/>
                  </a:lnTo>
                  <a:cubicBezTo>
                    <a:pt x="0" y="12414"/>
                    <a:pt x="12414" y="0"/>
                    <a:pt x="27728" y="0"/>
                  </a:cubicBezTo>
                  <a:close/>
                </a:path>
              </a:pathLst>
            </a:custGeom>
            <a:solidFill>
              <a:srgbClr val="202F60">
                <a:alpha val="49804"/>
              </a:srgbClr>
            </a:solidFill>
          </p:spPr>
        </p:sp>
        <p:sp>
          <p:nvSpPr>
            <p:cNvPr name="TextBox 4" id="4"/>
            <p:cNvSpPr txBox="true"/>
            <p:nvPr/>
          </p:nvSpPr>
          <p:spPr>
            <a:xfrm>
              <a:off x="0" y="-57150"/>
              <a:ext cx="2867911" cy="1309114"/>
            </a:xfrm>
            <a:prstGeom prst="rect">
              <a:avLst/>
            </a:prstGeom>
          </p:spPr>
          <p:txBody>
            <a:bodyPr anchor="ctr" rtlCol="false" tIns="50800" lIns="50800" bIns="50800" rIns="50800"/>
            <a:lstStyle/>
            <a:p>
              <a:pPr algn="ctr">
                <a:lnSpc>
                  <a:spcPts val="1960"/>
                </a:lnSpc>
              </a:pPr>
            </a:p>
          </p:txBody>
        </p:sp>
      </p:grpSp>
      <p:sp>
        <p:nvSpPr>
          <p:cNvPr name="TextBox 5" id="5"/>
          <p:cNvSpPr txBox="true"/>
          <p:nvPr/>
        </p:nvSpPr>
        <p:spPr>
          <a:xfrm rot="0">
            <a:off x="5793571" y="106865"/>
            <a:ext cx="6700858"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Experiment 3</a:t>
            </a:r>
          </a:p>
        </p:txBody>
      </p:sp>
      <p:sp>
        <p:nvSpPr>
          <p:cNvPr name="TextBox 6" id="6"/>
          <p:cNvSpPr txBox="true"/>
          <p:nvPr/>
        </p:nvSpPr>
        <p:spPr>
          <a:xfrm rot="0">
            <a:off x="4225059" y="3455210"/>
            <a:ext cx="9762794" cy="3648075"/>
          </a:xfrm>
          <a:prstGeom prst="rect">
            <a:avLst/>
          </a:prstGeom>
        </p:spPr>
        <p:txBody>
          <a:bodyPr anchor="t" rtlCol="false" tIns="0" lIns="0" bIns="0" rIns="0">
            <a:spAutoFit/>
          </a:bodyPr>
          <a:lstStyle/>
          <a:p>
            <a:pPr algn="just">
              <a:lnSpc>
                <a:spcPts val="4062"/>
              </a:lnSpc>
            </a:pPr>
            <a:r>
              <a:rPr lang="en-US" sz="3385" spc="-169">
                <a:solidFill>
                  <a:srgbClr val="FFFFFF"/>
                </a:solidFill>
                <a:latin typeface="Telegraf"/>
                <a:ea typeface="Telegraf"/>
                <a:cs typeface="Telegraf"/>
                <a:sym typeface="Telegraf"/>
              </a:rPr>
              <a:t>Experiment 3 menggunakan model yang dihasilkan dari eksperimen 1 (pre-trained model) dan melatihnya kembali. Dataset yang digunakan yaitu STFT dari eksperimen 2 dengan menambahkan/mengurangi energi dari gunshot dan backsound secara random dengan harapan model dapat mendeteksi audio gunshot tanpa terpengaruh dari besar/kecilnya energi.</a:t>
            </a:r>
          </a:p>
        </p:txBody>
      </p:sp>
      <p:sp>
        <p:nvSpPr>
          <p:cNvPr name="Freeform 7" id="7"/>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2"/>
            <a:stretch>
              <a:fillRect l="0" t="0" r="0" b="0"/>
            </a:stretch>
          </a:blipFill>
        </p:spPr>
      </p:sp>
      <p:sp>
        <p:nvSpPr>
          <p:cNvPr name="Freeform 8" id="8"/>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3"/>
            <a:stretch>
              <a:fillRect l="0" t="0" r="0" b="0"/>
            </a:stretch>
          </a:blipFill>
        </p:spPr>
      </p:sp>
      <p:sp>
        <p:nvSpPr>
          <p:cNvPr name="Freeform 9" id="9"/>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4"/>
            <a:stretch>
              <a:fillRect l="0" t="0" r="0" b="0"/>
            </a:stretch>
          </a:blipFill>
        </p:spPr>
      </p:sp>
      <p:sp>
        <p:nvSpPr>
          <p:cNvPr name="TextBox 10" id="10"/>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1028700" y="2749211"/>
            <a:ext cx="5773867" cy="1426150"/>
          </a:xfrm>
          <a:prstGeom prst="rect">
            <a:avLst/>
          </a:prstGeom>
        </p:spPr>
        <p:txBody>
          <a:bodyPr anchor="t" rtlCol="false" tIns="0" lIns="0" bIns="0" rIns="0">
            <a:spAutoFit/>
          </a:bodyPr>
          <a:lstStyle/>
          <a:p>
            <a:pPr algn="l" marL="0" indent="0" lvl="0">
              <a:lnSpc>
                <a:spcPts val="8543"/>
              </a:lnSpc>
              <a:spcBef>
                <a:spcPct val="0"/>
              </a:spcBef>
            </a:pPr>
            <a:r>
              <a:rPr lang="en-US" sz="6102">
                <a:gradFill>
                  <a:gsLst>
                    <a:gs pos="0">
                      <a:srgbClr val="10162A">
                        <a:alpha val="100000"/>
                      </a:srgbClr>
                    </a:gs>
                    <a:gs pos="100000">
                      <a:srgbClr val="3361AC">
                        <a:alpha val="68500"/>
                      </a:srgbClr>
                    </a:gs>
                  </a:gsLst>
                  <a:lin ang="0"/>
                </a:gradFill>
                <a:latin typeface="Pattanakarn Expanded"/>
                <a:ea typeface="Pattanakarn Expanded"/>
                <a:cs typeface="Pattanakarn Expanded"/>
                <a:sym typeface="Pattanakarn Expanded"/>
              </a:rPr>
              <a:t>Experiment : </a:t>
            </a:r>
          </a:p>
        </p:txBody>
      </p:sp>
      <p:sp>
        <p:nvSpPr>
          <p:cNvPr name="TextBox 3" id="3"/>
          <p:cNvSpPr txBox="true"/>
          <p:nvPr/>
        </p:nvSpPr>
        <p:spPr>
          <a:xfrm rot="0">
            <a:off x="6783272" y="212883"/>
            <a:ext cx="4721455" cy="1212534"/>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Dokumentasi</a:t>
            </a:r>
          </a:p>
        </p:txBody>
      </p:sp>
      <p:sp>
        <p:nvSpPr>
          <p:cNvPr name="TextBox 4" id="4"/>
          <p:cNvSpPr txBox="true"/>
          <p:nvPr/>
        </p:nvSpPr>
        <p:spPr>
          <a:xfrm rot="0">
            <a:off x="1028700" y="5246990"/>
            <a:ext cx="5645173" cy="1426150"/>
          </a:xfrm>
          <a:prstGeom prst="rect">
            <a:avLst/>
          </a:prstGeom>
        </p:spPr>
        <p:txBody>
          <a:bodyPr anchor="t" rtlCol="false" tIns="0" lIns="0" bIns="0" rIns="0">
            <a:spAutoFit/>
          </a:bodyPr>
          <a:lstStyle/>
          <a:p>
            <a:pPr algn="l" marL="0" indent="0" lvl="0">
              <a:lnSpc>
                <a:spcPts val="8543"/>
              </a:lnSpc>
              <a:spcBef>
                <a:spcPct val="0"/>
              </a:spcBef>
            </a:pPr>
            <a:r>
              <a:rPr lang="en-US" sz="6102">
                <a:gradFill>
                  <a:gsLst>
                    <a:gs pos="0">
                      <a:srgbClr val="10162A">
                        <a:alpha val="100000"/>
                      </a:srgbClr>
                    </a:gs>
                    <a:gs pos="100000">
                      <a:srgbClr val="3361AC">
                        <a:alpha val="68500"/>
                      </a:srgbClr>
                    </a:gs>
                  </a:gsLst>
                  <a:lin ang="0"/>
                </a:gradFill>
                <a:latin typeface="Pattanakarn Expanded"/>
                <a:ea typeface="Pattanakarn Expanded"/>
                <a:cs typeface="Pattanakarn Expanded"/>
                <a:sym typeface="Pattanakarn Expanded"/>
              </a:rPr>
              <a:t>Dataset : </a:t>
            </a:r>
          </a:p>
        </p:txBody>
      </p:sp>
      <p:sp>
        <p:nvSpPr>
          <p:cNvPr name="TextBox 5" id="5"/>
          <p:cNvSpPr txBox="true"/>
          <p:nvPr/>
        </p:nvSpPr>
        <p:spPr>
          <a:xfrm rot="0">
            <a:off x="6673873" y="5650502"/>
            <a:ext cx="9762794" cy="1076325"/>
          </a:xfrm>
          <a:prstGeom prst="rect">
            <a:avLst/>
          </a:prstGeom>
        </p:spPr>
        <p:txBody>
          <a:bodyPr anchor="t" rtlCol="false" tIns="0" lIns="0" bIns="0" rIns="0">
            <a:spAutoFit/>
          </a:bodyPr>
          <a:lstStyle/>
          <a:p>
            <a:pPr algn="just">
              <a:lnSpc>
                <a:spcPts val="4062"/>
              </a:lnSpc>
            </a:pPr>
            <a:r>
              <a:rPr lang="en-US" sz="3385" spc="-169">
                <a:solidFill>
                  <a:srgbClr val="FFFFFF"/>
                </a:solidFill>
                <a:latin typeface="Telegraf"/>
                <a:ea typeface="Telegraf"/>
                <a:cs typeface="Telegraf"/>
                <a:sym typeface="Telegraf"/>
              </a:rPr>
              <a:t>https://drive.google.com/drive/folders/1CvA4rtnAYcR4-s-jp0RpzCaM5SBR3rLi?usp=sharing</a:t>
            </a:r>
          </a:p>
        </p:txBody>
      </p:sp>
      <p:sp>
        <p:nvSpPr>
          <p:cNvPr name="TextBox 6" id="6"/>
          <p:cNvSpPr txBox="true"/>
          <p:nvPr/>
        </p:nvSpPr>
        <p:spPr>
          <a:xfrm rot="0">
            <a:off x="6673873" y="3152724"/>
            <a:ext cx="9762794" cy="1076325"/>
          </a:xfrm>
          <a:prstGeom prst="rect">
            <a:avLst/>
          </a:prstGeom>
        </p:spPr>
        <p:txBody>
          <a:bodyPr anchor="t" rtlCol="false" tIns="0" lIns="0" bIns="0" rIns="0">
            <a:spAutoFit/>
          </a:bodyPr>
          <a:lstStyle/>
          <a:p>
            <a:pPr algn="just">
              <a:lnSpc>
                <a:spcPts val="4062"/>
              </a:lnSpc>
            </a:pPr>
            <a:r>
              <a:rPr lang="en-US" sz="3385" spc="-169">
                <a:solidFill>
                  <a:srgbClr val="FFFFFF"/>
                </a:solidFill>
                <a:latin typeface="Telegraf"/>
                <a:ea typeface="Telegraf"/>
                <a:cs typeface="Telegraf"/>
                <a:sym typeface="Telegraf"/>
              </a:rPr>
              <a:t>https://github.com/dhekmass12/mass-shooting-detector</a:t>
            </a:r>
          </a:p>
        </p:txBody>
      </p:sp>
      <p:sp>
        <p:nvSpPr>
          <p:cNvPr name="Freeform 7" id="7"/>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2"/>
            <a:stretch>
              <a:fillRect l="0" t="0" r="0" b="0"/>
            </a:stretch>
          </a:blipFill>
        </p:spPr>
      </p:sp>
      <p:sp>
        <p:nvSpPr>
          <p:cNvPr name="Freeform 8" id="8"/>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3"/>
            <a:stretch>
              <a:fillRect l="0" t="0" r="0" b="0"/>
            </a:stretch>
          </a:blipFill>
        </p:spPr>
      </p:sp>
      <p:sp>
        <p:nvSpPr>
          <p:cNvPr name="Freeform 9" id="9"/>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4"/>
            <a:stretch>
              <a:fillRect l="0" t="0" r="0" b="0"/>
            </a:stretch>
          </a:blipFill>
        </p:spPr>
      </p:sp>
      <p:sp>
        <p:nvSpPr>
          <p:cNvPr name="TextBox 10" id="10"/>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028700" y="3025412"/>
            <a:ext cx="7271305" cy="6232888"/>
            <a:chOff x="0" y="0"/>
            <a:chExt cx="1915076" cy="1641584"/>
          </a:xfrm>
        </p:grpSpPr>
        <p:sp>
          <p:nvSpPr>
            <p:cNvPr name="Freeform 3" id="3"/>
            <p:cNvSpPr/>
            <p:nvPr/>
          </p:nvSpPr>
          <p:spPr>
            <a:xfrm flipH="false" flipV="false" rot="0">
              <a:off x="0" y="0"/>
              <a:ext cx="1915076" cy="1641584"/>
            </a:xfrm>
            <a:custGeom>
              <a:avLst/>
              <a:gdLst/>
              <a:ahLst/>
              <a:cxnLst/>
              <a:rect r="r" b="b" t="t" l="l"/>
              <a:pathLst>
                <a:path h="1641584" w="1915076">
                  <a:moveTo>
                    <a:pt x="41524" y="0"/>
                  </a:moveTo>
                  <a:lnTo>
                    <a:pt x="1873552" y="0"/>
                  </a:lnTo>
                  <a:cubicBezTo>
                    <a:pt x="1884565" y="0"/>
                    <a:pt x="1895127" y="4375"/>
                    <a:pt x="1902914" y="12162"/>
                  </a:cubicBezTo>
                  <a:cubicBezTo>
                    <a:pt x="1910701" y="19949"/>
                    <a:pt x="1915076" y="30511"/>
                    <a:pt x="1915076" y="41524"/>
                  </a:cubicBezTo>
                  <a:lnTo>
                    <a:pt x="1915076" y="1600060"/>
                  </a:lnTo>
                  <a:cubicBezTo>
                    <a:pt x="1915076" y="1622993"/>
                    <a:pt x="1896485" y="1641584"/>
                    <a:pt x="1873552" y="1641584"/>
                  </a:cubicBezTo>
                  <a:lnTo>
                    <a:pt x="41524" y="1641584"/>
                  </a:lnTo>
                  <a:cubicBezTo>
                    <a:pt x="18591" y="1641584"/>
                    <a:pt x="0" y="1622993"/>
                    <a:pt x="0" y="1600060"/>
                  </a:cubicBezTo>
                  <a:lnTo>
                    <a:pt x="0" y="41524"/>
                  </a:lnTo>
                  <a:cubicBezTo>
                    <a:pt x="0" y="18591"/>
                    <a:pt x="18591" y="0"/>
                    <a:pt x="41524" y="0"/>
                  </a:cubicBezTo>
                  <a:close/>
                </a:path>
              </a:pathLst>
            </a:custGeom>
            <a:solidFill>
              <a:srgbClr val="202F60">
                <a:alpha val="49804"/>
              </a:srgbClr>
            </a:solidFill>
          </p:spPr>
        </p:sp>
        <p:sp>
          <p:nvSpPr>
            <p:cNvPr name="TextBox 4" id="4"/>
            <p:cNvSpPr txBox="true"/>
            <p:nvPr/>
          </p:nvSpPr>
          <p:spPr>
            <a:xfrm>
              <a:off x="0" y="-57150"/>
              <a:ext cx="1915076" cy="1698734"/>
            </a:xfrm>
            <a:prstGeom prst="rect">
              <a:avLst/>
            </a:prstGeom>
          </p:spPr>
          <p:txBody>
            <a:bodyPr anchor="ctr" rtlCol="false" tIns="50800" lIns="50800" bIns="50800" rIns="50800"/>
            <a:lstStyle/>
            <a:p>
              <a:pPr algn="ctr">
                <a:lnSpc>
                  <a:spcPts val="1960"/>
                </a:lnSpc>
              </a:pPr>
            </a:p>
          </p:txBody>
        </p:sp>
      </p:grpSp>
      <p:grpSp>
        <p:nvGrpSpPr>
          <p:cNvPr name="Group 5" id="5"/>
          <p:cNvGrpSpPr/>
          <p:nvPr/>
        </p:nvGrpSpPr>
        <p:grpSpPr>
          <a:xfrm rot="0">
            <a:off x="9676147" y="3103385"/>
            <a:ext cx="7583988" cy="6154915"/>
            <a:chOff x="0" y="0"/>
            <a:chExt cx="1997429" cy="1621047"/>
          </a:xfrm>
        </p:grpSpPr>
        <p:sp>
          <p:nvSpPr>
            <p:cNvPr name="Freeform 6" id="6"/>
            <p:cNvSpPr/>
            <p:nvPr/>
          </p:nvSpPr>
          <p:spPr>
            <a:xfrm flipH="false" flipV="false" rot="0">
              <a:off x="0" y="0"/>
              <a:ext cx="1997429" cy="1621047"/>
            </a:xfrm>
            <a:custGeom>
              <a:avLst/>
              <a:gdLst/>
              <a:ahLst/>
              <a:cxnLst/>
              <a:rect r="r" b="b" t="t" l="l"/>
              <a:pathLst>
                <a:path h="1621047" w="1997429">
                  <a:moveTo>
                    <a:pt x="39812" y="0"/>
                  </a:moveTo>
                  <a:lnTo>
                    <a:pt x="1957617" y="0"/>
                  </a:lnTo>
                  <a:cubicBezTo>
                    <a:pt x="1968176" y="0"/>
                    <a:pt x="1978302" y="4194"/>
                    <a:pt x="1985768" y="11661"/>
                  </a:cubicBezTo>
                  <a:cubicBezTo>
                    <a:pt x="1993234" y="19127"/>
                    <a:pt x="1997429" y="29253"/>
                    <a:pt x="1997429" y="39812"/>
                  </a:cubicBezTo>
                  <a:lnTo>
                    <a:pt x="1997429" y="1581235"/>
                  </a:lnTo>
                  <a:cubicBezTo>
                    <a:pt x="1997429" y="1603223"/>
                    <a:pt x="1979604" y="1621047"/>
                    <a:pt x="1957617" y="1621047"/>
                  </a:cubicBezTo>
                  <a:lnTo>
                    <a:pt x="39812" y="1621047"/>
                  </a:lnTo>
                  <a:cubicBezTo>
                    <a:pt x="17825" y="1621047"/>
                    <a:pt x="0" y="1603223"/>
                    <a:pt x="0" y="1581235"/>
                  </a:cubicBezTo>
                  <a:lnTo>
                    <a:pt x="0" y="39812"/>
                  </a:lnTo>
                  <a:cubicBezTo>
                    <a:pt x="0" y="17825"/>
                    <a:pt x="17825" y="0"/>
                    <a:pt x="39812" y="0"/>
                  </a:cubicBezTo>
                  <a:close/>
                </a:path>
              </a:pathLst>
            </a:custGeom>
            <a:solidFill>
              <a:srgbClr val="202F60">
                <a:alpha val="49804"/>
              </a:srgbClr>
            </a:solidFill>
          </p:spPr>
        </p:sp>
        <p:sp>
          <p:nvSpPr>
            <p:cNvPr name="TextBox 7" id="7"/>
            <p:cNvSpPr txBox="true"/>
            <p:nvPr/>
          </p:nvSpPr>
          <p:spPr>
            <a:xfrm>
              <a:off x="0" y="-57150"/>
              <a:ext cx="1997429" cy="1678197"/>
            </a:xfrm>
            <a:prstGeom prst="rect">
              <a:avLst/>
            </a:prstGeom>
          </p:spPr>
          <p:txBody>
            <a:bodyPr anchor="ctr" rtlCol="false" tIns="50800" lIns="50800" bIns="50800" rIns="50800"/>
            <a:lstStyle/>
            <a:p>
              <a:pPr algn="ctr">
                <a:lnSpc>
                  <a:spcPts val="1960"/>
                </a:lnSpc>
              </a:pPr>
            </a:p>
          </p:txBody>
        </p:sp>
      </p:grpSp>
      <p:sp>
        <p:nvSpPr>
          <p:cNvPr name="AutoShape 8" id="8"/>
          <p:cNvSpPr/>
          <p:nvPr/>
        </p:nvSpPr>
        <p:spPr>
          <a:xfrm flipH="true">
            <a:off x="8990347" y="3040586"/>
            <a:ext cx="0" cy="6217714"/>
          </a:xfrm>
          <a:prstGeom prst="line">
            <a:avLst/>
          </a:prstGeom>
          <a:ln cap="flat" w="38100">
            <a:solidFill>
              <a:srgbClr val="FFFFFF"/>
            </a:solidFill>
            <a:prstDash val="sysDash"/>
            <a:headEnd type="none" len="sm" w="sm"/>
            <a:tailEnd type="none" len="sm" w="sm"/>
          </a:ln>
        </p:spPr>
      </p:sp>
      <p:sp>
        <p:nvSpPr>
          <p:cNvPr name="Freeform 9" id="9"/>
          <p:cNvSpPr/>
          <p:nvPr/>
        </p:nvSpPr>
        <p:spPr>
          <a:xfrm flipH="false" flipV="false" rot="0">
            <a:off x="1235571" y="4213167"/>
            <a:ext cx="6857562" cy="3857379"/>
          </a:xfrm>
          <a:custGeom>
            <a:avLst/>
            <a:gdLst/>
            <a:ahLst/>
            <a:cxnLst/>
            <a:rect r="r" b="b" t="t" l="l"/>
            <a:pathLst>
              <a:path h="3857379" w="6857562">
                <a:moveTo>
                  <a:pt x="0" y="0"/>
                </a:moveTo>
                <a:lnTo>
                  <a:pt x="6857562" y="0"/>
                </a:lnTo>
                <a:lnTo>
                  <a:pt x="6857562" y="3857378"/>
                </a:lnTo>
                <a:lnTo>
                  <a:pt x="0" y="3857378"/>
                </a:lnTo>
                <a:lnTo>
                  <a:pt x="0" y="0"/>
                </a:lnTo>
                <a:close/>
              </a:path>
            </a:pathLst>
          </a:custGeom>
          <a:blipFill>
            <a:blip r:embed="rId2"/>
            <a:stretch>
              <a:fillRect l="0" t="0" r="0" b="0"/>
            </a:stretch>
          </a:blipFill>
        </p:spPr>
      </p:sp>
      <p:sp>
        <p:nvSpPr>
          <p:cNvPr name="Freeform 10" id="10"/>
          <p:cNvSpPr/>
          <p:nvPr/>
        </p:nvSpPr>
        <p:spPr>
          <a:xfrm flipH="false" flipV="false" rot="0">
            <a:off x="10122780" y="4301175"/>
            <a:ext cx="6690722" cy="3759335"/>
          </a:xfrm>
          <a:custGeom>
            <a:avLst/>
            <a:gdLst/>
            <a:ahLst/>
            <a:cxnLst/>
            <a:rect r="r" b="b" t="t" l="l"/>
            <a:pathLst>
              <a:path h="3759335" w="6690722">
                <a:moveTo>
                  <a:pt x="0" y="0"/>
                </a:moveTo>
                <a:lnTo>
                  <a:pt x="6690722" y="0"/>
                </a:lnTo>
                <a:lnTo>
                  <a:pt x="6690722" y="3759335"/>
                </a:lnTo>
                <a:lnTo>
                  <a:pt x="0" y="3759335"/>
                </a:lnTo>
                <a:lnTo>
                  <a:pt x="0" y="0"/>
                </a:lnTo>
                <a:close/>
              </a:path>
            </a:pathLst>
          </a:custGeom>
          <a:blipFill>
            <a:blip r:embed="rId3"/>
            <a:stretch>
              <a:fillRect l="0" t="0" r="0" b="0"/>
            </a:stretch>
          </a:blipFill>
        </p:spPr>
      </p:sp>
      <p:sp>
        <p:nvSpPr>
          <p:cNvPr name="TextBox 11" id="11"/>
          <p:cNvSpPr txBox="true"/>
          <p:nvPr/>
        </p:nvSpPr>
        <p:spPr>
          <a:xfrm rot="0">
            <a:off x="5793571" y="106865"/>
            <a:ext cx="6700858"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Evaluation Metrics</a:t>
            </a:r>
          </a:p>
        </p:txBody>
      </p:sp>
      <p:sp>
        <p:nvSpPr>
          <p:cNvPr name="Freeform 12" id="12"/>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4"/>
            <a:stretch>
              <a:fillRect l="0" t="0" r="0" b="0"/>
            </a:stretch>
          </a:blipFill>
        </p:spPr>
      </p:sp>
      <p:sp>
        <p:nvSpPr>
          <p:cNvPr name="Freeform 13" id="13"/>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5"/>
            <a:stretch>
              <a:fillRect l="0" t="0" r="0" b="0"/>
            </a:stretch>
          </a:blipFill>
        </p:spPr>
      </p:sp>
      <p:sp>
        <p:nvSpPr>
          <p:cNvPr name="Freeform 14" id="14"/>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6"/>
            <a:stretch>
              <a:fillRect l="0" t="0" r="0" b="0"/>
            </a:stretch>
          </a:blipFill>
        </p:spPr>
      </p:sp>
      <p:sp>
        <p:nvSpPr>
          <p:cNvPr name="TextBox 15" id="15"/>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3884026" y="3057806"/>
            <a:ext cx="10519947" cy="4171388"/>
          </a:xfrm>
          <a:custGeom>
            <a:avLst/>
            <a:gdLst/>
            <a:ahLst/>
            <a:cxnLst/>
            <a:rect r="r" b="b" t="t" l="l"/>
            <a:pathLst>
              <a:path h="4171388" w="10519947">
                <a:moveTo>
                  <a:pt x="0" y="0"/>
                </a:moveTo>
                <a:lnTo>
                  <a:pt x="10519948" y="0"/>
                </a:lnTo>
                <a:lnTo>
                  <a:pt x="10519948" y="4171388"/>
                </a:lnTo>
                <a:lnTo>
                  <a:pt x="0" y="4171388"/>
                </a:lnTo>
                <a:lnTo>
                  <a:pt x="0" y="0"/>
                </a:lnTo>
                <a:close/>
              </a:path>
            </a:pathLst>
          </a:custGeom>
          <a:blipFill>
            <a:blip r:embed="rId2"/>
            <a:stretch>
              <a:fillRect l="0" t="0" r="0" b="0"/>
            </a:stretch>
          </a:blipFill>
        </p:spPr>
      </p:sp>
      <p:sp>
        <p:nvSpPr>
          <p:cNvPr name="TextBox 3" id="3"/>
          <p:cNvSpPr txBox="true"/>
          <p:nvPr/>
        </p:nvSpPr>
        <p:spPr>
          <a:xfrm rot="0">
            <a:off x="5118657" y="215900"/>
            <a:ext cx="8050687"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Experiment Results</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2389026" y="3446007"/>
            <a:ext cx="13509947" cy="3394987"/>
          </a:xfrm>
          <a:custGeom>
            <a:avLst/>
            <a:gdLst/>
            <a:ahLst/>
            <a:cxnLst/>
            <a:rect r="r" b="b" t="t" l="l"/>
            <a:pathLst>
              <a:path h="3394987" w="13509947">
                <a:moveTo>
                  <a:pt x="0" y="0"/>
                </a:moveTo>
                <a:lnTo>
                  <a:pt x="13509948" y="0"/>
                </a:lnTo>
                <a:lnTo>
                  <a:pt x="13509948" y="3394986"/>
                </a:lnTo>
                <a:lnTo>
                  <a:pt x="0" y="3394986"/>
                </a:lnTo>
                <a:lnTo>
                  <a:pt x="0" y="0"/>
                </a:lnTo>
                <a:close/>
              </a:path>
            </a:pathLst>
          </a:custGeom>
          <a:blipFill>
            <a:blip r:embed="rId2"/>
            <a:stretch>
              <a:fillRect l="0" t="0" r="0" b="0"/>
            </a:stretch>
          </a:blipFill>
        </p:spPr>
      </p:sp>
      <p:sp>
        <p:nvSpPr>
          <p:cNvPr name="TextBox 3" id="3"/>
          <p:cNvSpPr txBox="true"/>
          <p:nvPr/>
        </p:nvSpPr>
        <p:spPr>
          <a:xfrm rot="0">
            <a:off x="5118657" y="215900"/>
            <a:ext cx="8050687"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Inference</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23.xml><?xml version="1.0" encoding="utf-8"?>
<p:sld xmlns:p="http://schemas.openxmlformats.org/presentationml/2006/main" xmlns:a="http://schemas.openxmlformats.org/drawingml/2006/main">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1028700" y="3527814"/>
            <a:ext cx="16230600" cy="2403491"/>
          </a:xfrm>
          <a:prstGeom prst="rect">
            <a:avLst/>
          </a:prstGeom>
        </p:spPr>
        <p:txBody>
          <a:bodyPr anchor="t" rtlCol="false" tIns="0" lIns="0" bIns="0" rIns="0">
            <a:spAutoFit/>
          </a:bodyPr>
          <a:lstStyle/>
          <a:p>
            <a:pPr algn="ctr" marL="0" indent="0" lvl="0">
              <a:lnSpc>
                <a:spcPts val="13999"/>
              </a:lnSpc>
              <a:spcBef>
                <a:spcPct val="0"/>
              </a:spcBef>
            </a:pPr>
            <a:r>
              <a:rPr lang="en-US" b="true" sz="9999">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DAG8Mfg6v4M</dc:identifier>
  <dcterms:modified xsi:type="dcterms:W3CDTF">2011-08-01T06:04:30Z</dcterms:modified>
  <cp:revision>1</cp:revision>
  <dc:title>MASS SHOOTING DETECTOR</dc:title>
</cp:coreProperties>
</file>